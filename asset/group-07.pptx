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3"/>
  </p:notesMasterIdLst>
  <p:sldIdLst>
    <p:sldId id="256" r:id="rId2"/>
    <p:sldId id="257" r:id="rId3"/>
    <p:sldId id="258" r:id="rId4"/>
    <p:sldId id="266" r:id="rId5"/>
    <p:sldId id="267" r:id="rId6"/>
    <p:sldId id="259" r:id="rId7"/>
    <p:sldId id="260" r:id="rId8"/>
    <p:sldId id="261" r:id="rId9"/>
    <p:sldId id="262" r:id="rId10"/>
    <p:sldId id="263" r:id="rId11"/>
    <p:sldId id="265"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98C70F-797D-433E-BF29-C45E98D88D0E}" v="49" dt="2024-03-12T08:52:47.735"/>
    <p1510:client id="{BA238C19-FBAD-4EB6-A64E-78DFB35EC1D1}" v="493" dt="2024-03-12T07:45:49.234"/>
    <p1510:client id="{D8D83884-367E-4255-86B9-2B2658E95F65}" v="3" dt="2024-03-11T17:11:17.2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51" autoAdjust="0"/>
    <p:restoredTop sz="94660"/>
  </p:normalViewPr>
  <p:slideViewPr>
    <p:cSldViewPr snapToGrid="0">
      <p:cViewPr varScale="1">
        <p:scale>
          <a:sx n="75" d="100"/>
          <a:sy n="75" d="100"/>
        </p:scale>
        <p:origin x="701"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Road Accidents</c:v>
                </c:pt>
              </c:strCache>
            </c:strRef>
          </c:tx>
          <c:spPr>
            <a:solidFill>
              <a:schemeClr val="accent1"/>
            </a:solidFill>
            <a:ln>
              <a:noFill/>
            </a:ln>
            <a:effectLst/>
          </c:spPr>
          <c:invertIfNegative val="0"/>
          <c:cat>
            <c:numRef>
              <c:f>Sheet1!$A$2:$A$4</c:f>
              <c:numCache>
                <c:formatCode>General</c:formatCode>
                <c:ptCount val="3"/>
                <c:pt idx="0">
                  <c:v>2021</c:v>
                </c:pt>
                <c:pt idx="1">
                  <c:v>2022</c:v>
                </c:pt>
                <c:pt idx="2">
                  <c:v>2023</c:v>
                </c:pt>
              </c:numCache>
            </c:numRef>
          </c:cat>
          <c:val>
            <c:numRef>
              <c:f>Sheet1!$B$2:$B$4</c:f>
              <c:numCache>
                <c:formatCode>General</c:formatCode>
                <c:ptCount val="3"/>
                <c:pt idx="0">
                  <c:v>412432</c:v>
                </c:pt>
                <c:pt idx="1">
                  <c:v>461312</c:v>
                </c:pt>
                <c:pt idx="2">
                  <c:v>480583</c:v>
                </c:pt>
              </c:numCache>
            </c:numRef>
          </c:val>
          <c:extLst>
            <c:ext xmlns:c16="http://schemas.microsoft.com/office/drawing/2014/chart" uri="{C3380CC4-5D6E-409C-BE32-E72D297353CC}">
              <c16:uniqueId val="{00000000-F881-405E-852C-4557CE21384E}"/>
            </c:ext>
          </c:extLst>
        </c:ser>
        <c:ser>
          <c:idx val="1"/>
          <c:order val="1"/>
          <c:tx>
            <c:strRef>
              <c:f>Sheet1!$C$1</c:f>
              <c:strCache>
                <c:ptCount val="1"/>
                <c:pt idx="0">
                  <c:v>Persons Killed</c:v>
                </c:pt>
              </c:strCache>
            </c:strRef>
          </c:tx>
          <c:spPr>
            <a:solidFill>
              <a:schemeClr val="accent3"/>
            </a:solidFill>
            <a:ln>
              <a:noFill/>
            </a:ln>
            <a:effectLst/>
          </c:spPr>
          <c:invertIfNegative val="0"/>
          <c:cat>
            <c:numRef>
              <c:f>Sheet1!$A$2:$A$4</c:f>
              <c:numCache>
                <c:formatCode>General</c:formatCode>
                <c:ptCount val="3"/>
                <c:pt idx="0">
                  <c:v>2021</c:v>
                </c:pt>
                <c:pt idx="1">
                  <c:v>2022</c:v>
                </c:pt>
                <c:pt idx="2">
                  <c:v>2023</c:v>
                </c:pt>
              </c:numCache>
            </c:numRef>
          </c:cat>
          <c:val>
            <c:numRef>
              <c:f>Sheet1!$C$2:$C$4</c:f>
              <c:numCache>
                <c:formatCode>General</c:formatCode>
                <c:ptCount val="3"/>
                <c:pt idx="0">
                  <c:v>153972</c:v>
                </c:pt>
                <c:pt idx="1">
                  <c:v>168491</c:v>
                </c:pt>
                <c:pt idx="2">
                  <c:v>172890</c:v>
                </c:pt>
              </c:numCache>
            </c:numRef>
          </c:val>
          <c:extLst>
            <c:ext xmlns:c16="http://schemas.microsoft.com/office/drawing/2014/chart" uri="{C3380CC4-5D6E-409C-BE32-E72D297353CC}">
              <c16:uniqueId val="{00000001-F881-405E-852C-4557CE21384E}"/>
            </c:ext>
          </c:extLst>
        </c:ser>
        <c:ser>
          <c:idx val="2"/>
          <c:order val="2"/>
          <c:tx>
            <c:strRef>
              <c:f>Sheet1!$D$1</c:f>
              <c:strCache>
                <c:ptCount val="1"/>
                <c:pt idx="0">
                  <c:v>Persons Injured</c:v>
                </c:pt>
              </c:strCache>
            </c:strRef>
          </c:tx>
          <c:spPr>
            <a:solidFill>
              <a:schemeClr val="accent5"/>
            </a:solidFill>
            <a:ln>
              <a:noFill/>
            </a:ln>
            <a:effectLst/>
          </c:spPr>
          <c:invertIfNegative val="0"/>
          <c:cat>
            <c:numRef>
              <c:f>Sheet1!$A$2:$A$4</c:f>
              <c:numCache>
                <c:formatCode>General</c:formatCode>
                <c:ptCount val="3"/>
                <c:pt idx="0">
                  <c:v>2021</c:v>
                </c:pt>
                <c:pt idx="1">
                  <c:v>2022</c:v>
                </c:pt>
                <c:pt idx="2">
                  <c:v>2023</c:v>
                </c:pt>
              </c:numCache>
            </c:numRef>
          </c:cat>
          <c:val>
            <c:numRef>
              <c:f>Sheet1!$D$2:$D$4</c:f>
              <c:numCache>
                <c:formatCode>General</c:formatCode>
                <c:ptCount val="3"/>
                <c:pt idx="0">
                  <c:v>384448</c:v>
                </c:pt>
                <c:pt idx="1">
                  <c:v>443366</c:v>
                </c:pt>
                <c:pt idx="2">
                  <c:v>462825</c:v>
                </c:pt>
              </c:numCache>
            </c:numRef>
          </c:val>
          <c:extLst>
            <c:ext xmlns:c16="http://schemas.microsoft.com/office/drawing/2014/chart" uri="{C3380CC4-5D6E-409C-BE32-E72D297353CC}">
              <c16:uniqueId val="{00000002-F881-405E-852C-4557CE21384E}"/>
            </c:ext>
          </c:extLst>
        </c:ser>
        <c:dLbls>
          <c:showLegendKey val="0"/>
          <c:showVal val="0"/>
          <c:showCatName val="0"/>
          <c:showSerName val="0"/>
          <c:showPercent val="0"/>
          <c:showBubbleSize val="0"/>
        </c:dLbls>
        <c:gapWidth val="150"/>
        <c:axId val="318792703"/>
        <c:axId val="242035983"/>
      </c:barChart>
      <c:catAx>
        <c:axId val="3187927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42035983"/>
        <c:crosses val="autoZero"/>
        <c:auto val="1"/>
        <c:lblAlgn val="ctr"/>
        <c:lblOffset val="100"/>
        <c:noMultiLvlLbl val="0"/>
      </c:catAx>
      <c:valAx>
        <c:axId val="2420359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18792703"/>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Entry>
      <c:legendEntry>
        <c:idx val="2"/>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596148431507713"/>
          <c:y val="1.8749998846579796E-2"/>
          <c:w val="0.59111733836907876"/>
          <c:h val="0.85157087527246089"/>
        </c:manualLayout>
      </c:layout>
      <c:barChart>
        <c:barDir val="bar"/>
        <c:grouping val="clustered"/>
        <c:varyColors val="0"/>
        <c:ser>
          <c:idx val="0"/>
          <c:order val="0"/>
          <c:tx>
            <c:strRef>
              <c:f>Sheet1!$B$1</c:f>
              <c:strCache>
                <c:ptCount val="1"/>
                <c:pt idx="0">
                  <c:v>Column2</c:v>
                </c:pt>
              </c:strCache>
            </c:strRef>
          </c:tx>
          <c:spPr>
            <a:solidFill>
              <a:schemeClr val="accent1"/>
            </a:solidFill>
            <a:ln>
              <a:noFill/>
            </a:ln>
            <a:effectLst/>
          </c:spPr>
          <c:invertIfNegative val="0"/>
          <c:cat>
            <c:strRef>
              <c:f>Sheet1!$A$2:$A$10</c:f>
              <c:strCache>
                <c:ptCount val="9"/>
                <c:pt idx="1">
                  <c:v>Curved road</c:v>
                </c:pt>
                <c:pt idx="2">
                  <c:v>Bridge</c:v>
                </c:pt>
                <c:pt idx="3">
                  <c:v>Culvert</c:v>
                </c:pt>
                <c:pt idx="4">
                  <c:v>Potholes</c:v>
                </c:pt>
                <c:pt idx="5">
                  <c:v>Steep grade</c:v>
                </c:pt>
                <c:pt idx="6">
                  <c:v>Ongoing road works / Under construction</c:v>
                </c:pt>
                <c:pt idx="7">
                  <c:v>Others</c:v>
                </c:pt>
                <c:pt idx="8">
                  <c:v>Straight road single lane</c:v>
                </c:pt>
              </c:strCache>
            </c:strRef>
          </c:cat>
          <c:val>
            <c:numRef>
              <c:f>Sheet1!$B$2:$B$10</c:f>
              <c:numCache>
                <c:formatCode>General</c:formatCode>
                <c:ptCount val="9"/>
                <c:pt idx="1">
                  <c:v>54593</c:v>
                </c:pt>
                <c:pt idx="2">
                  <c:v>14111</c:v>
                </c:pt>
                <c:pt idx="3">
                  <c:v>7384</c:v>
                </c:pt>
                <c:pt idx="4">
                  <c:v>4446</c:v>
                </c:pt>
                <c:pt idx="5">
                  <c:v>4475</c:v>
                </c:pt>
                <c:pt idx="6">
                  <c:v>9211</c:v>
                </c:pt>
                <c:pt idx="7">
                  <c:v>57845</c:v>
                </c:pt>
                <c:pt idx="8">
                  <c:v>309247</c:v>
                </c:pt>
              </c:numCache>
            </c:numRef>
          </c:val>
          <c:extLst>
            <c:ext xmlns:c16="http://schemas.microsoft.com/office/drawing/2014/chart" uri="{C3380CC4-5D6E-409C-BE32-E72D297353CC}">
              <c16:uniqueId val="{00000000-B646-45FE-9F03-71FCBC2BEABD}"/>
            </c:ext>
          </c:extLst>
        </c:ser>
        <c:ser>
          <c:idx val="1"/>
          <c:order val="1"/>
          <c:tx>
            <c:strRef>
              <c:f>Sheet1!$C$1</c:f>
              <c:strCache>
                <c:ptCount val="1"/>
                <c:pt idx="0">
                  <c:v>Column3</c:v>
                </c:pt>
              </c:strCache>
            </c:strRef>
          </c:tx>
          <c:spPr>
            <a:solidFill>
              <a:schemeClr val="accent2"/>
            </a:solidFill>
            <a:ln>
              <a:noFill/>
            </a:ln>
            <a:effectLst/>
          </c:spPr>
          <c:invertIfNegative val="0"/>
          <c:cat>
            <c:strRef>
              <c:f>Sheet1!$A$2:$A$10</c:f>
              <c:strCache>
                <c:ptCount val="9"/>
                <c:pt idx="1">
                  <c:v>Curved road</c:v>
                </c:pt>
                <c:pt idx="2">
                  <c:v>Bridge</c:v>
                </c:pt>
                <c:pt idx="3">
                  <c:v>Culvert</c:v>
                </c:pt>
                <c:pt idx="4">
                  <c:v>Potholes</c:v>
                </c:pt>
                <c:pt idx="5">
                  <c:v>Steep grade</c:v>
                </c:pt>
                <c:pt idx="6">
                  <c:v>Ongoing road works / Under construction</c:v>
                </c:pt>
                <c:pt idx="7">
                  <c:v>Others</c:v>
                </c:pt>
                <c:pt idx="8">
                  <c:v>Straight road single lane</c:v>
                </c:pt>
              </c:strCache>
            </c:strRef>
          </c:cat>
          <c:val>
            <c:numRef>
              <c:f>Sheet1!$C$2:$C$10</c:f>
              <c:numCache>
                <c:formatCode>General</c:formatCode>
                <c:ptCount val="9"/>
                <c:pt idx="1">
                  <c:v>58626</c:v>
                </c:pt>
                <c:pt idx="2">
                  <c:v>15528</c:v>
                </c:pt>
                <c:pt idx="3">
                  <c:v>10308</c:v>
                </c:pt>
                <c:pt idx="4">
                  <c:v>5840</c:v>
                </c:pt>
                <c:pt idx="5">
                  <c:v>5094</c:v>
                </c:pt>
                <c:pt idx="6">
                  <c:v>9425</c:v>
                </c:pt>
                <c:pt idx="7">
                  <c:v>53757</c:v>
                </c:pt>
                <c:pt idx="8">
                  <c:v>322005</c:v>
                </c:pt>
              </c:numCache>
            </c:numRef>
          </c:val>
          <c:extLst>
            <c:ext xmlns:c16="http://schemas.microsoft.com/office/drawing/2014/chart" uri="{C3380CC4-5D6E-409C-BE32-E72D297353CC}">
              <c16:uniqueId val="{00000001-B646-45FE-9F03-71FCBC2BEABD}"/>
            </c:ext>
          </c:extLst>
        </c:ser>
        <c:ser>
          <c:idx val="2"/>
          <c:order val="2"/>
          <c:tx>
            <c:strRef>
              <c:f>Sheet1!$D$1</c:f>
              <c:strCache>
                <c:ptCount val="1"/>
                <c:pt idx="0">
                  <c:v>Column4</c:v>
                </c:pt>
              </c:strCache>
            </c:strRef>
          </c:tx>
          <c:spPr>
            <a:solidFill>
              <a:schemeClr val="accent3"/>
            </a:solidFill>
            <a:ln>
              <a:noFill/>
            </a:ln>
            <a:effectLst/>
          </c:spPr>
          <c:invertIfNegative val="0"/>
          <c:cat>
            <c:strRef>
              <c:f>Sheet1!$A$2:$A$10</c:f>
              <c:strCache>
                <c:ptCount val="9"/>
                <c:pt idx="1">
                  <c:v>Curved road</c:v>
                </c:pt>
                <c:pt idx="2">
                  <c:v>Bridge</c:v>
                </c:pt>
                <c:pt idx="3">
                  <c:v>Culvert</c:v>
                </c:pt>
                <c:pt idx="4">
                  <c:v>Potholes</c:v>
                </c:pt>
                <c:pt idx="5">
                  <c:v>Steep grade</c:v>
                </c:pt>
                <c:pt idx="6">
                  <c:v>Ongoing road works / Under construction</c:v>
                </c:pt>
                <c:pt idx="7">
                  <c:v>Others</c:v>
                </c:pt>
                <c:pt idx="8">
                  <c:v>Straight road single lane</c:v>
                </c:pt>
              </c:strCache>
            </c:strRef>
          </c:cat>
          <c:val>
            <c:numRef>
              <c:f>Sheet1!$D$2:$D$10</c:f>
              <c:numCache>
                <c:formatCode>General</c:formatCode>
                <c:ptCount val="9"/>
                <c:pt idx="1">
                  <c:v>20573</c:v>
                </c:pt>
                <c:pt idx="2">
                  <c:v>6258</c:v>
                </c:pt>
                <c:pt idx="3">
                  <c:v>3473</c:v>
                </c:pt>
                <c:pt idx="4">
                  <c:v>1856</c:v>
                </c:pt>
                <c:pt idx="5">
                  <c:v>2056</c:v>
                </c:pt>
                <c:pt idx="6">
                  <c:v>4054</c:v>
                </c:pt>
                <c:pt idx="7">
                  <c:v>18406</c:v>
                </c:pt>
                <c:pt idx="8">
                  <c:v>111815</c:v>
                </c:pt>
              </c:numCache>
            </c:numRef>
          </c:val>
          <c:extLst>
            <c:ext xmlns:c16="http://schemas.microsoft.com/office/drawing/2014/chart" uri="{C3380CC4-5D6E-409C-BE32-E72D297353CC}">
              <c16:uniqueId val="{00000002-B646-45FE-9F03-71FCBC2BEABD}"/>
            </c:ext>
          </c:extLst>
        </c:ser>
        <c:ser>
          <c:idx val="3"/>
          <c:order val="3"/>
          <c:tx>
            <c:strRef>
              <c:f>Sheet1!$E$1</c:f>
              <c:strCache>
                <c:ptCount val="1"/>
                <c:pt idx="0">
                  <c:v>Column5</c:v>
                </c:pt>
              </c:strCache>
            </c:strRef>
          </c:tx>
          <c:spPr>
            <a:solidFill>
              <a:schemeClr val="accent4"/>
            </a:solidFill>
            <a:ln>
              <a:noFill/>
            </a:ln>
            <a:effectLst/>
          </c:spPr>
          <c:invertIfNegative val="0"/>
          <c:cat>
            <c:strRef>
              <c:f>Sheet1!$A$2:$A$10</c:f>
              <c:strCache>
                <c:ptCount val="9"/>
                <c:pt idx="1">
                  <c:v>Curved road</c:v>
                </c:pt>
                <c:pt idx="2">
                  <c:v>Bridge</c:v>
                </c:pt>
                <c:pt idx="3">
                  <c:v>Culvert</c:v>
                </c:pt>
                <c:pt idx="4">
                  <c:v>Potholes</c:v>
                </c:pt>
                <c:pt idx="5">
                  <c:v>Steep grade</c:v>
                </c:pt>
                <c:pt idx="6">
                  <c:v>Ongoing road works / Under construction</c:v>
                </c:pt>
                <c:pt idx="7">
                  <c:v>Others</c:v>
                </c:pt>
                <c:pt idx="8">
                  <c:v>Straight road single lane</c:v>
                </c:pt>
              </c:strCache>
            </c:strRef>
          </c:cat>
          <c:val>
            <c:numRef>
              <c:f>Sheet1!$E$2:$E$10</c:f>
              <c:numCache>
                <c:formatCode>General</c:formatCode>
                <c:ptCount val="9"/>
                <c:pt idx="1">
                  <c:v>22263</c:v>
                </c:pt>
                <c:pt idx="2">
                  <c:v>6552</c:v>
                </c:pt>
                <c:pt idx="3">
                  <c:v>4271</c:v>
                </c:pt>
                <c:pt idx="4">
                  <c:v>2161</c:v>
                </c:pt>
                <c:pt idx="5">
                  <c:v>2154</c:v>
                </c:pt>
                <c:pt idx="6">
                  <c:v>3904</c:v>
                </c:pt>
                <c:pt idx="7">
                  <c:v>17138</c:v>
                </c:pt>
                <c:pt idx="8">
                  <c:v>114447</c:v>
                </c:pt>
              </c:numCache>
            </c:numRef>
          </c:val>
          <c:extLst>
            <c:ext xmlns:c16="http://schemas.microsoft.com/office/drawing/2014/chart" uri="{C3380CC4-5D6E-409C-BE32-E72D297353CC}">
              <c16:uniqueId val="{00000003-B646-45FE-9F03-71FCBC2BEABD}"/>
            </c:ext>
          </c:extLst>
        </c:ser>
        <c:ser>
          <c:idx val="4"/>
          <c:order val="4"/>
          <c:tx>
            <c:strRef>
              <c:f>Sheet1!$F$1</c:f>
              <c:strCache>
                <c:ptCount val="1"/>
                <c:pt idx="0">
                  <c:v>Column6</c:v>
                </c:pt>
              </c:strCache>
            </c:strRef>
          </c:tx>
          <c:spPr>
            <a:solidFill>
              <a:schemeClr val="accent5"/>
            </a:solidFill>
            <a:ln>
              <a:noFill/>
            </a:ln>
            <a:effectLst/>
          </c:spPr>
          <c:invertIfNegative val="0"/>
          <c:cat>
            <c:strRef>
              <c:f>Sheet1!$A$2:$A$10</c:f>
              <c:strCache>
                <c:ptCount val="9"/>
                <c:pt idx="1">
                  <c:v>Curved road</c:v>
                </c:pt>
                <c:pt idx="2">
                  <c:v>Bridge</c:v>
                </c:pt>
                <c:pt idx="3">
                  <c:v>Culvert</c:v>
                </c:pt>
                <c:pt idx="4">
                  <c:v>Potholes</c:v>
                </c:pt>
                <c:pt idx="5">
                  <c:v>Steep grade</c:v>
                </c:pt>
                <c:pt idx="6">
                  <c:v>Ongoing road works / Under construction</c:v>
                </c:pt>
                <c:pt idx="7">
                  <c:v>Others</c:v>
                </c:pt>
                <c:pt idx="8">
                  <c:v>Straight road single lane</c:v>
                </c:pt>
              </c:strCache>
            </c:strRef>
          </c:cat>
          <c:val>
            <c:numRef>
              <c:f>Sheet1!$F$2:$F$10</c:f>
              <c:numCache>
                <c:formatCode>General</c:formatCode>
                <c:ptCount val="9"/>
                <c:pt idx="1">
                  <c:v>55866</c:v>
                </c:pt>
                <c:pt idx="2">
                  <c:v>13062</c:v>
                </c:pt>
                <c:pt idx="3">
                  <c:v>6309</c:v>
                </c:pt>
                <c:pt idx="4">
                  <c:v>3734</c:v>
                </c:pt>
                <c:pt idx="5">
                  <c:v>4089</c:v>
                </c:pt>
                <c:pt idx="6">
                  <c:v>7955</c:v>
                </c:pt>
                <c:pt idx="7">
                  <c:v>54657</c:v>
                </c:pt>
                <c:pt idx="8">
                  <c:v>297694</c:v>
                </c:pt>
              </c:numCache>
            </c:numRef>
          </c:val>
          <c:extLst>
            <c:ext xmlns:c16="http://schemas.microsoft.com/office/drawing/2014/chart" uri="{C3380CC4-5D6E-409C-BE32-E72D297353CC}">
              <c16:uniqueId val="{00000004-B646-45FE-9F03-71FCBC2BEABD}"/>
            </c:ext>
          </c:extLst>
        </c:ser>
        <c:ser>
          <c:idx val="5"/>
          <c:order val="5"/>
          <c:tx>
            <c:strRef>
              <c:f>Sheet1!$G$1</c:f>
              <c:strCache>
                <c:ptCount val="1"/>
                <c:pt idx="0">
                  <c:v>Column7</c:v>
                </c:pt>
              </c:strCache>
            </c:strRef>
          </c:tx>
          <c:spPr>
            <a:solidFill>
              <a:schemeClr val="accent6"/>
            </a:solidFill>
            <a:ln>
              <a:noFill/>
            </a:ln>
            <a:effectLst/>
          </c:spPr>
          <c:invertIfNegative val="0"/>
          <c:cat>
            <c:strRef>
              <c:f>Sheet1!$A$2:$A$10</c:f>
              <c:strCache>
                <c:ptCount val="9"/>
                <c:pt idx="1">
                  <c:v>Curved road</c:v>
                </c:pt>
                <c:pt idx="2">
                  <c:v>Bridge</c:v>
                </c:pt>
                <c:pt idx="3">
                  <c:v>Culvert</c:v>
                </c:pt>
                <c:pt idx="4">
                  <c:v>Potholes</c:v>
                </c:pt>
                <c:pt idx="5">
                  <c:v>Steep grade</c:v>
                </c:pt>
                <c:pt idx="6">
                  <c:v>Ongoing road works / Under construction</c:v>
                </c:pt>
                <c:pt idx="7">
                  <c:v>Others</c:v>
                </c:pt>
                <c:pt idx="8">
                  <c:v>Straight road single lane</c:v>
                </c:pt>
              </c:strCache>
            </c:strRef>
          </c:cat>
          <c:val>
            <c:numRef>
              <c:f>Sheet1!$G$2:$G$10</c:f>
              <c:numCache>
                <c:formatCode>General</c:formatCode>
                <c:ptCount val="9"/>
                <c:pt idx="1">
                  <c:v>59447</c:v>
                </c:pt>
                <c:pt idx="2">
                  <c:v>14781</c:v>
                </c:pt>
                <c:pt idx="3">
                  <c:v>9302</c:v>
                </c:pt>
                <c:pt idx="4">
                  <c:v>5309</c:v>
                </c:pt>
                <c:pt idx="5">
                  <c:v>4906</c:v>
                </c:pt>
                <c:pt idx="6">
                  <c:v>8246</c:v>
                </c:pt>
                <c:pt idx="7">
                  <c:v>50156</c:v>
                </c:pt>
                <c:pt idx="8">
                  <c:v>310678</c:v>
                </c:pt>
              </c:numCache>
            </c:numRef>
          </c:val>
          <c:extLst>
            <c:ext xmlns:c16="http://schemas.microsoft.com/office/drawing/2014/chart" uri="{C3380CC4-5D6E-409C-BE32-E72D297353CC}">
              <c16:uniqueId val="{00000005-B646-45FE-9F03-71FCBC2BEABD}"/>
            </c:ext>
          </c:extLst>
        </c:ser>
        <c:dLbls>
          <c:showLegendKey val="0"/>
          <c:showVal val="0"/>
          <c:showCatName val="0"/>
          <c:showSerName val="0"/>
          <c:showPercent val="0"/>
          <c:showBubbleSize val="0"/>
        </c:dLbls>
        <c:gapWidth val="219"/>
        <c:axId val="494948271"/>
        <c:axId val="130078447"/>
      </c:barChart>
      <c:catAx>
        <c:axId val="49494827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0078447"/>
        <c:crosses val="autoZero"/>
        <c:auto val="1"/>
        <c:lblAlgn val="ctr"/>
        <c:lblOffset val="100"/>
        <c:noMultiLvlLbl val="0"/>
      </c:catAx>
      <c:valAx>
        <c:axId val="13007844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49482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148265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740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3641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3167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Times New Roman"/>
              <a:buNone/>
              <a:defRPr sz="6000">
                <a:latin typeface="+mn-l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atin typeface="+mn-lt"/>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mn-l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9AED017-FBCA-487F-96D2-05EF4FD9A0C1}" type="datetime1">
              <a:rPr lang="en-US" smtClean="0"/>
              <a:t>8/20/2026</a:t>
            </a:fld>
            <a:endParaRPr lang="en-IN" dirty="0"/>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mn-l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PMEC- BERHAMPUR Group-7</a:t>
            </a: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tx1"/>
                </a:solidFill>
                <a:latin typeface="+mn-lt"/>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0" y="0"/>
            <a:ext cx="11353800" cy="75235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atin typeface="+mn-l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3" name="Google Shape;23;p3"/>
          <p:cNvSpPr txBox="1">
            <a:spLocks noGrp="1"/>
          </p:cNvSpPr>
          <p:nvPr>
            <p:ph type="body" idx="1"/>
          </p:nvPr>
        </p:nvSpPr>
        <p:spPr>
          <a:xfrm>
            <a:off x="0" y="752354"/>
            <a:ext cx="12192000" cy="560399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atin typeface="+mn-l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0" y="6356350"/>
            <a:ext cx="3581400" cy="5016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mn-l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AC275FB-7BA8-439E-AE2F-038A9F8DD01C}" type="datetime1">
              <a:rPr lang="en-US" smtClean="0"/>
              <a:t>8/20/2026</a:t>
            </a:fld>
            <a:endParaRPr lang="en-IN" dirty="0"/>
          </a:p>
        </p:txBody>
      </p:sp>
      <p:sp>
        <p:nvSpPr>
          <p:cNvPr id="25" name="Google Shape;25;p3"/>
          <p:cNvSpPr txBox="1">
            <a:spLocks noGrp="1"/>
          </p:cNvSpPr>
          <p:nvPr>
            <p:ph type="ftr" idx="11"/>
          </p:nvPr>
        </p:nvSpPr>
        <p:spPr>
          <a:xfrm>
            <a:off x="3581400" y="6356350"/>
            <a:ext cx="5029200" cy="5016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mn-l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PMEC- BERHAMPUR Group-7</a:t>
            </a:r>
          </a:p>
        </p:txBody>
      </p:sp>
      <p:sp>
        <p:nvSpPr>
          <p:cNvPr id="26" name="Google Shape;26;p3"/>
          <p:cNvSpPr txBox="1">
            <a:spLocks noGrp="1"/>
          </p:cNvSpPr>
          <p:nvPr>
            <p:ph type="sldNum" idx="12"/>
          </p:nvPr>
        </p:nvSpPr>
        <p:spPr>
          <a:xfrm>
            <a:off x="8610600" y="6356350"/>
            <a:ext cx="3581400" cy="50165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tx1"/>
                </a:solidFill>
                <a:latin typeface="+mn-lt"/>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0" y="1"/>
            <a:ext cx="11353800" cy="67133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Times New Roman"/>
              <a:buNone/>
              <a:defRPr sz="4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1" name="Google Shape;11;p1"/>
          <p:cNvSpPr txBox="1">
            <a:spLocks noGrp="1"/>
          </p:cNvSpPr>
          <p:nvPr>
            <p:ph type="body" idx="1"/>
          </p:nvPr>
        </p:nvSpPr>
        <p:spPr>
          <a:xfrm>
            <a:off x="0" y="798653"/>
            <a:ext cx="12192000" cy="5451676"/>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12" name="Google Shape;12;p1"/>
          <p:cNvSpPr txBox="1">
            <a:spLocks noGrp="1"/>
          </p:cNvSpPr>
          <p:nvPr>
            <p:ph type="dt" idx="10"/>
          </p:nvPr>
        </p:nvSpPr>
        <p:spPr>
          <a:xfrm>
            <a:off x="0" y="6356348"/>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tx1"/>
                </a:solidFill>
                <a:latin typeface="+mn-lt"/>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fld id="{934A1FA7-E476-45DC-8F85-514127701D4E}" type="datetime1">
              <a:rPr lang="en-US" smtClean="0"/>
              <a:t>8/20/2026</a:t>
            </a:fld>
            <a:endParaRPr lang="en-IN"/>
          </a:p>
        </p:txBody>
      </p:sp>
      <p:sp>
        <p:nvSpPr>
          <p:cNvPr id="13" name="Google Shape;13;p1"/>
          <p:cNvSpPr txBox="1">
            <a:spLocks noGrp="1"/>
          </p:cNvSpPr>
          <p:nvPr>
            <p:ph type="ftr" idx="11"/>
          </p:nvPr>
        </p:nvSpPr>
        <p:spPr>
          <a:xfrm>
            <a:off x="2847372" y="6356350"/>
            <a:ext cx="6504972"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tx1"/>
                </a:solidFill>
                <a:latin typeface="+mn-lt"/>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US"/>
              <a:t>PMEC- BERHAMPUR Group-7</a:t>
            </a:r>
            <a:endParaRPr lang="en-US" dirty="0"/>
          </a:p>
        </p:txBody>
      </p:sp>
      <p:sp>
        <p:nvSpPr>
          <p:cNvPr id="14" name="Google Shape;14;p1"/>
          <p:cNvSpPr txBox="1">
            <a:spLocks noGrp="1"/>
          </p:cNvSpPr>
          <p:nvPr>
            <p:ph type="sldNum" idx="12"/>
          </p:nvPr>
        </p:nvSpPr>
        <p:spPr>
          <a:xfrm>
            <a:off x="9448800"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tx1"/>
                </a:solidFill>
                <a:latin typeface="+mn-lt"/>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353800" y="2"/>
            <a:ext cx="838200" cy="812466"/>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6" name="Title 1">
            <a:extLst>
              <a:ext uri="{FF2B5EF4-FFF2-40B4-BE49-F238E27FC236}">
                <a16:creationId xmlns:a16="http://schemas.microsoft.com/office/drawing/2014/main" id="{907594E4-17BA-EE2F-2F4B-75284342B577}"/>
              </a:ext>
            </a:extLst>
          </p:cNvPr>
          <p:cNvSpPr txBox="1">
            <a:spLocks/>
          </p:cNvSpPr>
          <p:nvPr/>
        </p:nvSpPr>
        <p:spPr>
          <a:xfrm>
            <a:off x="1523999" y="726440"/>
            <a:ext cx="9144000" cy="23876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Times New Roman"/>
              <a:buNone/>
              <a:defRPr sz="6000" b="0" i="0" u="none" strike="noStrike" cap="none">
                <a:solidFill>
                  <a:schemeClr val="dk1"/>
                </a:solidFill>
                <a:latin typeface="+mn-lt"/>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b="1">
                <a:latin typeface="Arial"/>
              </a:rPr>
              <a:t>Edge-AI Enabled Cooperative Road Hazard
Detection &amp; Dissemination</a:t>
            </a:r>
            <a:endParaRPr lang="en-IN" sz="3200" b="1" dirty="0">
              <a:latin typeface="Arial"/>
            </a:endParaRPr>
          </a:p>
        </p:txBody>
      </p:sp>
      <p:sp>
        <p:nvSpPr>
          <p:cNvPr id="7" name="Google Shape;89;p13">
            <a:extLst>
              <a:ext uri="{FF2B5EF4-FFF2-40B4-BE49-F238E27FC236}">
                <a16:creationId xmlns:a16="http://schemas.microsoft.com/office/drawing/2014/main" id="{10CA12FA-5856-4BEB-A7F3-9BB443D60602}"/>
              </a:ext>
            </a:extLst>
          </p:cNvPr>
          <p:cNvSpPr txBox="1">
            <a:spLocks/>
          </p:cNvSpPr>
          <p:nvPr/>
        </p:nvSpPr>
        <p:spPr>
          <a:xfrm>
            <a:off x="2410762" y="3114040"/>
            <a:ext cx="7370475" cy="20775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mn-lt"/>
                <a:ea typeface="Arial"/>
                <a:cs typeface="Arial"/>
                <a:sym typeface="Arial"/>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pPr marL="0" indent="0"/>
            <a:r>
              <a:rPr lang="en-IN" dirty="0"/>
              <a:t>Group – 7</a:t>
            </a:r>
          </a:p>
          <a:p>
            <a:pPr marL="0" indent="0"/>
            <a:endParaRPr lang="en-IN" dirty="0"/>
          </a:p>
          <a:p>
            <a:pPr marL="0" indent="0">
              <a:spcBef>
                <a:spcPts val="0"/>
              </a:spcBef>
            </a:pPr>
            <a:r>
              <a:rPr lang="en-IN" dirty="0">
                <a:latin typeface="Times New Roman"/>
                <a:ea typeface="Times New Roman"/>
                <a:cs typeface="Times New Roman"/>
                <a:sym typeface="Times New Roman"/>
              </a:rPr>
              <a:t>Project Supervisor –</a:t>
            </a:r>
            <a:r>
              <a:rPr lang="en-IN" b="1" dirty="0">
                <a:latin typeface="Times New Roman"/>
                <a:ea typeface="Times New Roman"/>
                <a:cs typeface="Times New Roman"/>
                <a:sym typeface="Times New Roman"/>
              </a:rPr>
              <a:t> Dr. Anita Mohanty </a:t>
            </a:r>
            <a:br>
              <a:rPr lang="en-IN" b="1" dirty="0">
                <a:latin typeface="Times New Roman"/>
                <a:ea typeface="Times New Roman"/>
                <a:cs typeface="Times New Roman"/>
                <a:sym typeface="Times New Roman"/>
              </a:rPr>
            </a:br>
            <a:r>
              <a:rPr lang="en-IN" dirty="0">
                <a:latin typeface="Times New Roman"/>
                <a:ea typeface="Times New Roman"/>
                <a:cs typeface="Times New Roman"/>
                <a:sym typeface="Times New Roman"/>
              </a:rPr>
              <a:t>Dept. of Electronics &amp; Telecommunication Engineering</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B11CF0-DC40-29E3-B532-00D9994EC4DF}"/>
              </a:ext>
            </a:extLst>
          </p:cNvPr>
          <p:cNvSpPr>
            <a:spLocks noGrp="1"/>
          </p:cNvSpPr>
          <p:nvPr>
            <p:ph type="ftr" idx="11"/>
          </p:nvPr>
        </p:nvSpPr>
        <p:spPr/>
        <p:txBody>
          <a:bodyPr/>
          <a:lstStyle/>
          <a:p>
            <a:r>
              <a:rPr lang="en-US"/>
              <a:t>PMEC- BERHAMPUR Group-7</a:t>
            </a:r>
            <a:endParaRPr lang="en-US" dirty="0"/>
          </a:p>
        </p:txBody>
      </p:sp>
      <p:sp>
        <p:nvSpPr>
          <p:cNvPr id="4" name="Title 1">
            <a:extLst>
              <a:ext uri="{FF2B5EF4-FFF2-40B4-BE49-F238E27FC236}">
                <a16:creationId xmlns:a16="http://schemas.microsoft.com/office/drawing/2014/main" id="{B60562CE-8324-1679-EE16-6A46B96C0232}"/>
              </a:ext>
            </a:extLst>
          </p:cNvPr>
          <p:cNvSpPr txBox="1">
            <a:spLocks/>
          </p:cNvSpPr>
          <p:nvPr/>
        </p:nvSpPr>
        <p:spPr>
          <a:xfrm>
            <a:off x="152400" y="152400"/>
            <a:ext cx="11353800" cy="75235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Times New Roman"/>
              <a:buNone/>
              <a:defRPr sz="4400" b="0" i="0" u="none" strike="noStrike" cap="none">
                <a:solidFill>
                  <a:schemeClr val="dk1"/>
                </a:solidFill>
                <a:latin typeface="+mn-lt"/>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atin typeface="Arial"/>
              </a:rPr>
              <a:t>Group – 7</a:t>
            </a:r>
            <a:endParaRPr lang="en-US" dirty="0">
              <a:latin typeface="Arial"/>
            </a:endParaRPr>
          </a:p>
        </p:txBody>
      </p:sp>
      <p:sp>
        <p:nvSpPr>
          <p:cNvPr id="5" name="Text Placeholder 2">
            <a:extLst>
              <a:ext uri="{FF2B5EF4-FFF2-40B4-BE49-F238E27FC236}">
                <a16:creationId xmlns:a16="http://schemas.microsoft.com/office/drawing/2014/main" id="{F75E81B3-CF41-D1F1-D408-14CC0CD3E760}"/>
              </a:ext>
            </a:extLst>
          </p:cNvPr>
          <p:cNvSpPr txBox="1">
            <a:spLocks/>
          </p:cNvSpPr>
          <p:nvPr/>
        </p:nvSpPr>
        <p:spPr>
          <a:xfrm>
            <a:off x="0" y="676155"/>
            <a:ext cx="12192000" cy="560399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mn-lt"/>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lang="en-US" dirty="0"/>
          </a:p>
          <a:p>
            <a:pPr marL="114300" indent="0">
              <a:spcAft>
                <a:spcPts val="400"/>
              </a:spcAft>
              <a:buFont typeface="Arial"/>
              <a:buNone/>
            </a:pPr>
            <a:r>
              <a:rPr lang="en-US" sz="2400" b="1" dirty="0">
                <a:solidFill>
                  <a:srgbClr val="5B9BD5"/>
                </a:solidFill>
                <a:latin typeface="Arial"/>
              </a:rPr>
              <a:t>Project Members</a:t>
            </a:r>
          </a:p>
          <a:p>
            <a:pPr marL="114300" indent="0" algn="just">
              <a:spcAft>
                <a:spcPts val="400"/>
              </a:spcAft>
              <a:buFont typeface="Arial"/>
              <a:buNone/>
            </a:pPr>
            <a:r>
              <a:rPr lang="en-US" sz="2400" dirty="0">
                <a:latin typeface="Arial"/>
              </a:rPr>
              <a:t>Adarsh swarup maharana – 2421109136</a:t>
            </a:r>
          </a:p>
          <a:p>
            <a:pPr marL="114300" indent="0" algn="just">
              <a:spcAft>
                <a:spcPts val="400"/>
              </a:spcAft>
              <a:buFont typeface="Arial"/>
              <a:buNone/>
            </a:pPr>
            <a:r>
              <a:rPr lang="en-US" sz="2400" dirty="0">
                <a:latin typeface="Arial"/>
              </a:rPr>
              <a:t>Mihir Kumar panda – 2301109402</a:t>
            </a:r>
          </a:p>
          <a:p>
            <a:pPr marL="114300" indent="0" algn="just">
              <a:spcAft>
                <a:spcPts val="400"/>
              </a:spcAft>
              <a:buFont typeface="Arial"/>
              <a:buNone/>
            </a:pPr>
            <a:r>
              <a:rPr lang="en-US" sz="2400" dirty="0">
                <a:latin typeface="Arial"/>
              </a:rPr>
              <a:t>A Lakshmi Narayan Dora – 2421109135</a:t>
            </a:r>
          </a:p>
          <a:p>
            <a:pPr marL="114300" indent="0" algn="just">
              <a:spcAft>
                <a:spcPts val="400"/>
              </a:spcAft>
              <a:buFont typeface="Arial"/>
              <a:buNone/>
            </a:pPr>
            <a:r>
              <a:rPr lang="en-US" sz="2400" dirty="0">
                <a:latin typeface="Arial"/>
              </a:rPr>
              <a:t>Vishal Kumar Prashad – 2301109440</a:t>
            </a:r>
          </a:p>
          <a:p>
            <a:pPr marL="114300" indent="0">
              <a:spcAft>
                <a:spcPts val="400"/>
              </a:spcAft>
              <a:buFont typeface="Arial"/>
              <a:buNone/>
            </a:pPr>
            <a:r>
              <a:rPr lang="en-US" sz="2400" dirty="0">
                <a:latin typeface="Arial"/>
              </a:rPr>
              <a:t>Bhabani Nayak – 2301109376</a:t>
            </a:r>
          </a:p>
          <a:p>
            <a:pPr marL="114300" indent="0" algn="just">
              <a:spcAft>
                <a:spcPts val="400"/>
              </a:spcAft>
              <a:buFont typeface="Arial"/>
              <a:buNone/>
            </a:pPr>
            <a:r>
              <a:rPr lang="en-US" sz="2400" dirty="0">
                <a:latin typeface="Arial"/>
              </a:rPr>
              <a:t>Muskan Patra – 2301109403</a:t>
            </a:r>
          </a:p>
          <a:p>
            <a:pPr marL="114300" indent="0" algn="just">
              <a:spcAft>
                <a:spcPts val="400"/>
              </a:spcAft>
              <a:buFont typeface="Arial"/>
              <a:buNone/>
            </a:pPr>
            <a:r>
              <a:rPr lang="en-US" sz="2400" dirty="0">
                <a:latin typeface="Arial"/>
              </a:rPr>
              <a:t>Kamalakant Sahoo - 2301109397</a:t>
            </a:r>
          </a:p>
          <a:p>
            <a:pPr marL="114300" indent="0">
              <a:buFont typeface="Arial"/>
              <a:buNone/>
            </a:pPr>
            <a:endParaRPr lang="en-US" sz="1400" dirty="0">
              <a:latin typeface="Arial"/>
            </a:endParaRPr>
          </a:p>
        </p:txBody>
      </p:sp>
      <p:sp>
        <p:nvSpPr>
          <p:cNvPr id="6" name="Date Placeholder 5">
            <a:extLst>
              <a:ext uri="{FF2B5EF4-FFF2-40B4-BE49-F238E27FC236}">
                <a16:creationId xmlns:a16="http://schemas.microsoft.com/office/drawing/2014/main" id="{B82C2EFC-D335-0453-61B9-6C2DCA6262D6}"/>
              </a:ext>
            </a:extLst>
          </p:cNvPr>
          <p:cNvSpPr>
            <a:spLocks noGrp="1"/>
          </p:cNvSpPr>
          <p:nvPr>
            <p:ph type="dt" idx="10"/>
          </p:nvPr>
        </p:nvSpPr>
        <p:spPr/>
        <p:txBody>
          <a:bodyPr/>
          <a:lstStyle/>
          <a:p>
            <a:fld id="{0479B3B0-1CE2-4217-81AA-9CFD71EAFC23}" type="datetime1">
              <a:rPr lang="en-US" smtClean="0"/>
              <a:t>8/20/2026</a:t>
            </a:fld>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0" y="0"/>
            <a:ext cx="11353800" cy="75376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imes New Roman"/>
              <a:buNone/>
            </a:pPr>
            <a:r>
              <a:rPr lang="en-US" dirty="0">
                <a:latin typeface="Times New Roman" panose="02020603050405020304" pitchFamily="18" charset="0"/>
                <a:cs typeface="Times New Roman" panose="02020603050405020304" pitchFamily="18" charset="0"/>
              </a:rPr>
              <a:t>Content </a:t>
            </a:r>
            <a:endParaRPr dirty="0">
              <a:latin typeface="Times New Roman" panose="02020603050405020304" pitchFamily="18" charset="0"/>
              <a:cs typeface="Times New Roman" panose="02020603050405020304" pitchFamily="18" charset="0"/>
            </a:endParaRPr>
          </a:p>
        </p:txBody>
      </p:sp>
      <p:sp>
        <p:nvSpPr>
          <p:cNvPr id="105" name="Google Shape;105;p15"/>
          <p:cNvSpPr txBox="1">
            <a:spLocks noGrp="1"/>
          </p:cNvSpPr>
          <p:nvPr>
            <p:ph type="body" idx="1"/>
          </p:nvPr>
        </p:nvSpPr>
        <p:spPr>
          <a:xfrm>
            <a:off x="0" y="753760"/>
            <a:ext cx="12192000" cy="5602589"/>
          </a:xfrm>
          <a:prstGeom prst="rect">
            <a:avLst/>
          </a:prstGeom>
          <a:noFill/>
          <a:ln>
            <a:noFill/>
          </a:ln>
        </p:spPr>
        <p:txBody>
          <a:bodyPr spcFirstLastPara="1" wrap="square" lIns="91425" tIns="45700" rIns="91425" bIns="45700" anchor="t" anchorCtr="0">
            <a:noAutofit/>
          </a:bodyPr>
          <a:lstStyle/>
          <a:p>
            <a:pPr lvl="0"/>
            <a:r>
              <a:rPr lang="en-US" dirty="0"/>
              <a:t>Introduction </a:t>
            </a:r>
          </a:p>
          <a:p>
            <a:pPr lvl="0"/>
            <a:r>
              <a:rPr lang="en-US" dirty="0"/>
              <a:t>Road features associated with accidents </a:t>
            </a:r>
          </a:p>
          <a:p>
            <a:pPr lvl="0"/>
            <a:r>
              <a:rPr lang="en-US" dirty="0"/>
              <a:t>Graphical abstract of the proposed work</a:t>
            </a:r>
          </a:p>
          <a:p>
            <a:pPr lvl="0"/>
            <a:r>
              <a:rPr lang="en-IN" dirty="0"/>
              <a:t>Literature survey</a:t>
            </a:r>
          </a:p>
          <a:p>
            <a:pPr lvl="0"/>
            <a:r>
              <a:rPr lang="en-IN" dirty="0"/>
              <a:t>Research Gap</a:t>
            </a:r>
          </a:p>
          <a:p>
            <a:pPr lvl="0"/>
            <a:r>
              <a:rPr lang="en-IN" dirty="0"/>
              <a:t>Objectives of the project</a:t>
            </a:r>
          </a:p>
          <a:p>
            <a:pPr lvl="0"/>
            <a:r>
              <a:rPr lang="en-IN" dirty="0"/>
              <a:t>Reference</a:t>
            </a:r>
          </a:p>
        </p:txBody>
      </p:sp>
      <p:sp>
        <p:nvSpPr>
          <p:cNvPr id="2" name="Footer Placeholder 1">
            <a:extLst>
              <a:ext uri="{FF2B5EF4-FFF2-40B4-BE49-F238E27FC236}">
                <a16:creationId xmlns:a16="http://schemas.microsoft.com/office/drawing/2014/main" id="{60EDEC9B-6070-C388-5CEE-4308760E4887}"/>
              </a:ext>
            </a:extLst>
          </p:cNvPr>
          <p:cNvSpPr>
            <a:spLocks noGrp="1"/>
          </p:cNvSpPr>
          <p:nvPr>
            <p:ph type="ftr" idx="11"/>
          </p:nvPr>
        </p:nvSpPr>
        <p:spPr/>
        <p:txBody>
          <a:bodyPr/>
          <a:lstStyle/>
          <a:p>
            <a:r>
              <a:rPr lang="en-US"/>
              <a:t>PMEC- BERHAMPUR Group-7</a:t>
            </a:r>
            <a:endParaRPr lang="en-US" dirty="0"/>
          </a:p>
        </p:txBody>
      </p:sp>
      <p:sp>
        <p:nvSpPr>
          <p:cNvPr id="4" name="Date Placeholder 3">
            <a:extLst>
              <a:ext uri="{FF2B5EF4-FFF2-40B4-BE49-F238E27FC236}">
                <a16:creationId xmlns:a16="http://schemas.microsoft.com/office/drawing/2014/main" id="{ADA1F86E-8246-549F-1830-DB0375A2B247}"/>
              </a:ext>
            </a:extLst>
          </p:cNvPr>
          <p:cNvSpPr>
            <a:spLocks noGrp="1"/>
          </p:cNvSpPr>
          <p:nvPr>
            <p:ph type="dt" idx="10"/>
          </p:nvPr>
        </p:nvSpPr>
        <p:spPr/>
        <p:txBody>
          <a:bodyPr/>
          <a:lstStyle/>
          <a:p>
            <a:fld id="{F1E5605A-E0EB-4642-BD62-B4C0866A76AB}" type="datetime1">
              <a:rPr lang="en-US" smtClean="0"/>
              <a:t>8/20/2026</a:t>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CF32AAA-9B2E-16E4-01F1-D72439743C0D}"/>
              </a:ext>
            </a:extLst>
          </p:cNvPr>
          <p:cNvSpPr>
            <a:spLocks noGrp="1"/>
          </p:cNvSpPr>
          <p:nvPr>
            <p:ph type="title"/>
          </p:nvPr>
        </p:nvSpPr>
        <p:spPr>
          <a:xfrm>
            <a:off x="0" y="0"/>
            <a:ext cx="11353800" cy="752353"/>
          </a:xfrm>
        </p:spPr>
        <p:txBody>
          <a:bodyPr/>
          <a:lstStyle/>
          <a:p>
            <a:r>
              <a:rPr dirty="0">
                <a:latin typeface="Arial"/>
              </a:rPr>
              <a:t>Introduction</a:t>
            </a:r>
          </a:p>
        </p:txBody>
      </p:sp>
      <p:graphicFrame>
        <p:nvGraphicFramePr>
          <p:cNvPr id="9" name="Chart 8">
            <a:extLst>
              <a:ext uri="{FF2B5EF4-FFF2-40B4-BE49-F238E27FC236}">
                <a16:creationId xmlns:a16="http://schemas.microsoft.com/office/drawing/2014/main" id="{8D9649F1-6662-664B-A3FC-468EBC14550A}"/>
              </a:ext>
            </a:extLst>
          </p:cNvPr>
          <p:cNvGraphicFramePr/>
          <p:nvPr>
            <p:extLst>
              <p:ext uri="{D42A27DB-BD31-4B8C-83A1-F6EECF244321}">
                <p14:modId xmlns:p14="http://schemas.microsoft.com/office/powerpoint/2010/main" val="4122060826"/>
              </p:ext>
            </p:extLst>
          </p:nvPr>
        </p:nvGraphicFramePr>
        <p:xfrm>
          <a:off x="2032000" y="912707"/>
          <a:ext cx="8128000" cy="5183294"/>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8F21EFCE-0B3E-0912-2D8B-2E57B63C58C9}"/>
              </a:ext>
            </a:extLst>
          </p:cNvPr>
          <p:cNvSpPr txBox="1"/>
          <p:nvPr/>
        </p:nvSpPr>
        <p:spPr>
          <a:xfrm>
            <a:off x="5039460" y="6048573"/>
            <a:ext cx="2630848" cy="307777"/>
          </a:xfrm>
          <a:prstGeom prst="rect">
            <a:avLst/>
          </a:prstGeom>
          <a:noFill/>
        </p:spPr>
        <p:txBody>
          <a:bodyPr wrap="none" rtlCol="0">
            <a:spAutoFit/>
          </a:bodyPr>
          <a:lstStyle/>
          <a:p>
            <a:r>
              <a:rPr lang="en-US" dirty="0"/>
              <a:t>Fig.-1 India Road Safety Trend</a:t>
            </a:r>
          </a:p>
        </p:txBody>
      </p:sp>
      <p:sp>
        <p:nvSpPr>
          <p:cNvPr id="2" name="Date Placeholder 1">
            <a:extLst>
              <a:ext uri="{FF2B5EF4-FFF2-40B4-BE49-F238E27FC236}">
                <a16:creationId xmlns:a16="http://schemas.microsoft.com/office/drawing/2014/main" id="{0A50C8F1-9CCB-84EF-BC22-FBF58CE5AC5C}"/>
              </a:ext>
            </a:extLst>
          </p:cNvPr>
          <p:cNvSpPr>
            <a:spLocks noGrp="1"/>
          </p:cNvSpPr>
          <p:nvPr>
            <p:ph type="dt" idx="10"/>
          </p:nvPr>
        </p:nvSpPr>
        <p:spPr/>
        <p:txBody>
          <a:bodyPr/>
          <a:lstStyle/>
          <a:p>
            <a:fld id="{348B4B3F-CFFB-4508-8865-01F5F67F17FC}" type="datetime1">
              <a:rPr lang="en-US" smtClean="0"/>
              <a:t>8/20/2026</a:t>
            </a:fld>
            <a:endParaRPr lang="en-IN" dirty="0"/>
          </a:p>
        </p:txBody>
      </p:sp>
      <p:sp>
        <p:nvSpPr>
          <p:cNvPr id="3" name="Footer Placeholder 2">
            <a:extLst>
              <a:ext uri="{FF2B5EF4-FFF2-40B4-BE49-F238E27FC236}">
                <a16:creationId xmlns:a16="http://schemas.microsoft.com/office/drawing/2014/main" id="{5907AD5D-10A9-013D-551C-A9258962A493}"/>
              </a:ext>
            </a:extLst>
          </p:cNvPr>
          <p:cNvSpPr>
            <a:spLocks noGrp="1"/>
          </p:cNvSpPr>
          <p:nvPr>
            <p:ph type="ftr" idx="11"/>
          </p:nvPr>
        </p:nvSpPr>
        <p:spPr/>
        <p:txBody>
          <a:bodyPr/>
          <a:lstStyle/>
          <a:p>
            <a:r>
              <a:rPr lang="en-US"/>
              <a:t>PMEC- BERHAMPUR Group-7</a:t>
            </a:r>
          </a:p>
        </p:txBody>
      </p:sp>
    </p:spTree>
    <p:extLst>
      <p:ext uri="{BB962C8B-B14F-4D97-AF65-F5344CB8AC3E}">
        <p14:creationId xmlns:p14="http://schemas.microsoft.com/office/powerpoint/2010/main" val="3409868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EB6E18B-FEEF-452C-4C75-A2902AFB8854}"/>
              </a:ext>
            </a:extLst>
          </p:cNvPr>
          <p:cNvSpPr>
            <a:spLocks noGrp="1"/>
          </p:cNvSpPr>
          <p:nvPr>
            <p:ph type="title"/>
          </p:nvPr>
        </p:nvSpPr>
        <p:spPr>
          <a:xfrm>
            <a:off x="0" y="0"/>
            <a:ext cx="11353800" cy="752353"/>
          </a:xfrm>
        </p:spPr>
        <p:txBody>
          <a:bodyPr/>
          <a:lstStyle/>
          <a:p>
            <a:r>
              <a:rPr lang="en-US" dirty="0"/>
              <a:t>Road Features Associated with Accidents</a:t>
            </a:r>
          </a:p>
        </p:txBody>
      </p:sp>
      <p:sp>
        <p:nvSpPr>
          <p:cNvPr id="8" name="Footer Placeholder 1">
            <a:extLst>
              <a:ext uri="{FF2B5EF4-FFF2-40B4-BE49-F238E27FC236}">
                <a16:creationId xmlns:a16="http://schemas.microsoft.com/office/drawing/2014/main" id="{96CC62DC-55F3-E9C7-8EE5-70CC85DC9579}"/>
              </a:ext>
            </a:extLst>
          </p:cNvPr>
          <p:cNvSpPr>
            <a:spLocks noGrp="1"/>
          </p:cNvSpPr>
          <p:nvPr>
            <p:ph type="ftr" idx="11"/>
          </p:nvPr>
        </p:nvSpPr>
        <p:spPr>
          <a:xfrm>
            <a:off x="3581400" y="6356350"/>
            <a:ext cx="5029200" cy="501650"/>
          </a:xfrm>
        </p:spPr>
        <p:txBody>
          <a:bodyPr/>
          <a:lstStyle/>
          <a:p>
            <a:r>
              <a:rPr lang="en-US"/>
              <a:t>PMEC- BERHAMPUR Group-7</a:t>
            </a:r>
            <a:endParaRPr lang="en-US" dirty="0"/>
          </a:p>
        </p:txBody>
      </p:sp>
      <p:graphicFrame>
        <p:nvGraphicFramePr>
          <p:cNvPr id="9" name="Chart 8">
            <a:extLst>
              <a:ext uri="{FF2B5EF4-FFF2-40B4-BE49-F238E27FC236}">
                <a16:creationId xmlns:a16="http://schemas.microsoft.com/office/drawing/2014/main" id="{EF6B4729-9B94-FDB2-1737-666D9C668E70}"/>
              </a:ext>
            </a:extLst>
          </p:cNvPr>
          <p:cNvGraphicFramePr/>
          <p:nvPr>
            <p:extLst>
              <p:ext uri="{D42A27DB-BD31-4B8C-83A1-F6EECF244321}">
                <p14:modId xmlns:p14="http://schemas.microsoft.com/office/powerpoint/2010/main" val="4077713941"/>
              </p:ext>
            </p:extLst>
          </p:nvPr>
        </p:nvGraphicFramePr>
        <p:xfrm>
          <a:off x="1727200" y="863600"/>
          <a:ext cx="8244840" cy="5400085"/>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B346958F-5537-0571-7ECE-A12A7B30FB85}"/>
              </a:ext>
            </a:extLst>
          </p:cNvPr>
          <p:cNvSpPr txBox="1"/>
          <p:nvPr/>
        </p:nvSpPr>
        <p:spPr>
          <a:xfrm>
            <a:off x="4084071" y="6156129"/>
            <a:ext cx="4006225" cy="307777"/>
          </a:xfrm>
          <a:prstGeom prst="rect">
            <a:avLst/>
          </a:prstGeom>
          <a:noFill/>
        </p:spPr>
        <p:txBody>
          <a:bodyPr wrap="none" rtlCol="0">
            <a:spAutoFit/>
          </a:bodyPr>
          <a:lstStyle/>
          <a:p>
            <a:r>
              <a:rPr lang="en-US" dirty="0"/>
              <a:t>Fig. 2 Road Features Associated With Accidents</a:t>
            </a:r>
          </a:p>
        </p:txBody>
      </p:sp>
      <p:sp>
        <p:nvSpPr>
          <p:cNvPr id="2" name="Date Placeholder 1">
            <a:extLst>
              <a:ext uri="{FF2B5EF4-FFF2-40B4-BE49-F238E27FC236}">
                <a16:creationId xmlns:a16="http://schemas.microsoft.com/office/drawing/2014/main" id="{DC010F2C-5000-4801-5D6C-D8BE6AA13D57}"/>
              </a:ext>
            </a:extLst>
          </p:cNvPr>
          <p:cNvSpPr>
            <a:spLocks noGrp="1"/>
          </p:cNvSpPr>
          <p:nvPr>
            <p:ph type="dt" idx="10"/>
          </p:nvPr>
        </p:nvSpPr>
        <p:spPr/>
        <p:txBody>
          <a:bodyPr/>
          <a:lstStyle/>
          <a:p>
            <a:fld id="{48669FFF-A693-465C-BC6D-9BB99D76BD8B}" type="datetime1">
              <a:rPr lang="en-US" smtClean="0"/>
              <a:t>8/20/2026</a:t>
            </a:fld>
            <a:endParaRPr lang="en-IN" dirty="0"/>
          </a:p>
        </p:txBody>
      </p:sp>
    </p:spTree>
    <p:extLst>
      <p:ext uri="{BB962C8B-B14F-4D97-AF65-F5344CB8AC3E}">
        <p14:creationId xmlns:p14="http://schemas.microsoft.com/office/powerpoint/2010/main" val="1857036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440160" cy="935233"/>
          </a:xfrm>
        </p:spPr>
        <p:txBody>
          <a:bodyPr/>
          <a:lstStyle/>
          <a:p>
            <a:pPr lvl="0"/>
            <a:r>
              <a:rPr lang="en-IN" sz="2800" b="1" dirty="0"/>
              <a:t>Graphical abstract of the proposed work </a:t>
            </a:r>
            <a:endParaRPr lang="en-IN" sz="2800" dirty="0"/>
          </a:p>
        </p:txBody>
      </p:sp>
      <p:sp>
        <p:nvSpPr>
          <p:cNvPr id="4" name="Footer Placeholder 3"/>
          <p:cNvSpPr>
            <a:spLocks noGrp="1"/>
          </p:cNvSpPr>
          <p:nvPr>
            <p:ph type="ftr" idx="11"/>
          </p:nvPr>
        </p:nvSpPr>
        <p:spPr/>
        <p:txBody>
          <a:bodyPr/>
          <a:lstStyle/>
          <a:p>
            <a:r>
              <a:rPr lang="en-US"/>
              <a:t>PMEC- BERHAMPUR Group-7</a:t>
            </a:r>
            <a:endParaRPr lang="en-US" dirty="0"/>
          </a:p>
        </p:txBody>
      </p:sp>
      <p:pic>
        <p:nvPicPr>
          <p:cNvPr id="7" name="Picture 6">
            <a:extLst>
              <a:ext uri="{FF2B5EF4-FFF2-40B4-BE49-F238E27FC236}">
                <a16:creationId xmlns:a16="http://schemas.microsoft.com/office/drawing/2014/main" id="{51994BC5-DE6E-3AED-F927-BF47C96EC0AC}"/>
              </a:ext>
            </a:extLst>
          </p:cNvPr>
          <p:cNvPicPr>
            <a:picLocks noChangeAspect="1"/>
          </p:cNvPicPr>
          <p:nvPr/>
        </p:nvPicPr>
        <p:blipFill>
          <a:blip r:embed="rId2"/>
          <a:stretch>
            <a:fillRect/>
          </a:stretch>
        </p:blipFill>
        <p:spPr>
          <a:xfrm>
            <a:off x="487680" y="861506"/>
            <a:ext cx="10866120" cy="5576124"/>
          </a:xfrm>
          <a:prstGeom prst="rect">
            <a:avLst/>
          </a:prstGeom>
        </p:spPr>
      </p:pic>
      <p:sp>
        <p:nvSpPr>
          <p:cNvPr id="3" name="Date Placeholder 2">
            <a:extLst>
              <a:ext uri="{FF2B5EF4-FFF2-40B4-BE49-F238E27FC236}">
                <a16:creationId xmlns:a16="http://schemas.microsoft.com/office/drawing/2014/main" id="{0F59FEAB-178C-F644-DF69-8BFE72D191A7}"/>
              </a:ext>
            </a:extLst>
          </p:cNvPr>
          <p:cNvSpPr>
            <a:spLocks noGrp="1"/>
          </p:cNvSpPr>
          <p:nvPr>
            <p:ph type="dt" idx="10"/>
          </p:nvPr>
        </p:nvSpPr>
        <p:spPr/>
        <p:txBody>
          <a:bodyPr/>
          <a:lstStyle/>
          <a:p>
            <a:fld id="{43573D24-F483-4570-9D33-1BDF8853F9EE}" type="datetime1">
              <a:rPr lang="en-US" smtClean="0"/>
              <a:t>8/20/2026</a:t>
            </a:fld>
            <a:endParaRPr lang="en-IN" dirty="0"/>
          </a:p>
        </p:txBody>
      </p:sp>
    </p:spTree>
    <p:extLst>
      <p:ext uri="{BB962C8B-B14F-4D97-AF65-F5344CB8AC3E}">
        <p14:creationId xmlns:p14="http://schemas.microsoft.com/office/powerpoint/2010/main" val="1851806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Literature survey</a:t>
            </a:r>
          </a:p>
        </p:txBody>
      </p:sp>
      <p:sp>
        <p:nvSpPr>
          <p:cNvPr id="4" name="Footer Placeholder 3"/>
          <p:cNvSpPr>
            <a:spLocks noGrp="1"/>
          </p:cNvSpPr>
          <p:nvPr>
            <p:ph type="ftr" idx="11"/>
          </p:nvPr>
        </p:nvSpPr>
        <p:spPr/>
        <p:txBody>
          <a:bodyPr/>
          <a:lstStyle/>
          <a:p>
            <a:r>
              <a:rPr lang="en-US"/>
              <a:t>PMEC- BERHAMPUR Group-7</a:t>
            </a:r>
            <a:endParaRPr lang="en-US" dirty="0"/>
          </a:p>
        </p:txBody>
      </p:sp>
      <p:graphicFrame>
        <p:nvGraphicFramePr>
          <p:cNvPr id="7" name="Table 6">
            <a:extLst>
              <a:ext uri="{FF2B5EF4-FFF2-40B4-BE49-F238E27FC236}">
                <a16:creationId xmlns:a16="http://schemas.microsoft.com/office/drawing/2014/main" id="{E362203C-A286-DD6F-B992-DE86C9CC04CD}"/>
              </a:ext>
            </a:extLst>
          </p:cNvPr>
          <p:cNvGraphicFramePr>
            <a:graphicFrameLocks noGrp="1"/>
          </p:cNvGraphicFramePr>
          <p:nvPr>
            <p:extLst>
              <p:ext uri="{D42A27DB-BD31-4B8C-83A1-F6EECF244321}">
                <p14:modId xmlns:p14="http://schemas.microsoft.com/office/powerpoint/2010/main" val="2115174034"/>
              </p:ext>
            </p:extLst>
          </p:nvPr>
        </p:nvGraphicFramePr>
        <p:xfrm>
          <a:off x="472440" y="1145178"/>
          <a:ext cx="11247120" cy="4794068"/>
        </p:xfrm>
        <a:graphic>
          <a:graphicData uri="http://schemas.openxmlformats.org/drawingml/2006/table">
            <a:tbl>
              <a:tblPr firstRow="1" bandRow="1">
                <a:tableStyleId>{5C22544A-7EE6-4342-B048-85BDC9FD1C3A}</a:tableStyleId>
              </a:tblPr>
              <a:tblGrid>
                <a:gridCol w="18745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gridCol w="1874520">
                  <a:extLst>
                    <a:ext uri="{9D8B030D-6E8A-4147-A177-3AD203B41FA5}">
                      <a16:colId xmlns:a16="http://schemas.microsoft.com/office/drawing/2014/main" val="20004"/>
                    </a:ext>
                  </a:extLst>
                </a:gridCol>
                <a:gridCol w="1874520">
                  <a:extLst>
                    <a:ext uri="{9D8B030D-6E8A-4147-A177-3AD203B41FA5}">
                      <a16:colId xmlns:a16="http://schemas.microsoft.com/office/drawing/2014/main" val="20005"/>
                    </a:ext>
                  </a:extLst>
                </a:gridCol>
              </a:tblGrid>
              <a:tr h="587828">
                <a:tc>
                  <a:txBody>
                    <a:bodyPr/>
                    <a:lstStyle/>
                    <a:p>
                      <a:pPr>
                        <a:defRPr b="1"/>
                      </a:pPr>
                      <a:r>
                        <a:rPr sz="2000" dirty="0"/>
                        <a:t>Approach</a:t>
                      </a:r>
                    </a:p>
                  </a:txBody>
                  <a:tcPr>
                    <a:solidFill>
                      <a:srgbClr val="5B9BD5"/>
                    </a:solidFill>
                  </a:tcPr>
                </a:tc>
                <a:tc>
                  <a:txBody>
                    <a:bodyPr/>
                    <a:lstStyle/>
                    <a:p>
                      <a:pPr>
                        <a:defRPr b="1"/>
                      </a:pPr>
                      <a:r>
                        <a:rPr sz="2000"/>
                        <a:t>Detection</a:t>
                      </a:r>
                    </a:p>
                  </a:txBody>
                  <a:tcPr>
                    <a:solidFill>
                      <a:srgbClr val="5B9BD5"/>
                    </a:solidFill>
                  </a:tcPr>
                </a:tc>
                <a:tc>
                  <a:txBody>
                    <a:bodyPr/>
                    <a:lstStyle/>
                    <a:p>
                      <a:pPr>
                        <a:defRPr b="1"/>
                      </a:pPr>
                      <a:r>
                        <a:rPr sz="2000"/>
                        <a:t>Edge</a:t>
                      </a:r>
                    </a:p>
                  </a:txBody>
                  <a:tcPr>
                    <a:solidFill>
                      <a:srgbClr val="5B9BD5"/>
                    </a:solidFill>
                  </a:tcPr>
                </a:tc>
                <a:tc>
                  <a:txBody>
                    <a:bodyPr/>
                    <a:lstStyle/>
                    <a:p>
                      <a:pPr>
                        <a:defRPr b="1"/>
                      </a:pPr>
                      <a:r>
                        <a:rPr sz="2000"/>
                        <a:t>Cooperative</a:t>
                      </a:r>
                    </a:p>
                  </a:txBody>
                  <a:tcPr>
                    <a:solidFill>
                      <a:srgbClr val="5B9BD5"/>
                    </a:solidFill>
                  </a:tcPr>
                </a:tc>
                <a:tc>
                  <a:txBody>
                    <a:bodyPr/>
                    <a:lstStyle/>
                    <a:p>
                      <a:pPr>
                        <a:defRPr b="1"/>
                      </a:pPr>
                      <a:r>
                        <a:rPr sz="2000"/>
                        <a:t>Warning</a:t>
                      </a:r>
                    </a:p>
                  </a:txBody>
                  <a:tcPr>
                    <a:solidFill>
                      <a:srgbClr val="5B9BD5"/>
                    </a:solidFill>
                  </a:tcPr>
                </a:tc>
                <a:tc>
                  <a:txBody>
                    <a:bodyPr/>
                    <a:lstStyle/>
                    <a:p>
                      <a:pPr>
                        <a:defRPr b="1"/>
                      </a:pPr>
                      <a:r>
                        <a:rPr sz="2000"/>
                        <a:t>Cost</a:t>
                      </a:r>
                    </a:p>
                  </a:txBody>
                  <a:tcPr>
                    <a:solidFill>
                      <a:srgbClr val="5B9BD5"/>
                    </a:solidFill>
                  </a:tcPr>
                </a:tc>
                <a:extLst>
                  <a:ext uri="{0D108BD9-81ED-4DB2-BD59-A6C34878D82A}">
                    <a16:rowId xmlns:a16="http://schemas.microsoft.com/office/drawing/2014/main" val="10000"/>
                  </a:ext>
                </a:extLst>
              </a:tr>
              <a:tr h="587828">
                <a:tc>
                  <a:txBody>
                    <a:bodyPr/>
                    <a:lstStyle/>
                    <a:p>
                      <a:r>
                        <a:rPr sz="2000" dirty="0"/>
                        <a:t>Manual inspection</a:t>
                      </a:r>
                      <a:r>
                        <a:rPr lang="en-US" sz="2000" dirty="0"/>
                        <a:t> </a:t>
                      </a:r>
                      <a:endParaRPr sz="2000" dirty="0"/>
                    </a:p>
                  </a:txBody>
                  <a:tcPr/>
                </a:tc>
                <a:tc>
                  <a:txBody>
                    <a:bodyPr/>
                    <a:lstStyle/>
                    <a:p>
                      <a:r>
                        <a:rPr sz="2000"/>
                        <a:t>Slow</a:t>
                      </a:r>
                    </a:p>
                  </a:txBody>
                  <a:tcPr/>
                </a:tc>
                <a:tc>
                  <a:txBody>
                    <a:bodyPr/>
                    <a:lstStyle/>
                    <a:p>
                      <a:r>
                        <a:rPr sz="2000"/>
                        <a:t>No</a:t>
                      </a:r>
                    </a:p>
                  </a:txBody>
                  <a:tcPr/>
                </a:tc>
                <a:tc>
                  <a:txBody>
                    <a:bodyPr/>
                    <a:lstStyle/>
                    <a:p>
                      <a:r>
                        <a:rPr sz="2000"/>
                        <a:t>No</a:t>
                      </a:r>
                    </a:p>
                  </a:txBody>
                  <a:tcPr/>
                </a:tc>
                <a:tc>
                  <a:txBody>
                    <a:bodyPr/>
                    <a:lstStyle/>
                    <a:p>
                      <a:r>
                        <a:rPr sz="2000"/>
                        <a:t>Delayed</a:t>
                      </a:r>
                    </a:p>
                  </a:txBody>
                  <a:tcPr/>
                </a:tc>
                <a:tc>
                  <a:txBody>
                    <a:bodyPr/>
                    <a:lstStyle/>
                    <a:p>
                      <a:r>
                        <a:rPr sz="2000"/>
                        <a:t>Low</a:t>
                      </a:r>
                    </a:p>
                  </a:txBody>
                  <a:tcPr/>
                </a:tc>
                <a:extLst>
                  <a:ext uri="{0D108BD9-81ED-4DB2-BD59-A6C34878D82A}">
                    <a16:rowId xmlns:a16="http://schemas.microsoft.com/office/drawing/2014/main" val="10001"/>
                  </a:ext>
                </a:extLst>
              </a:tr>
              <a:tr h="587828">
                <a:tc>
                  <a:txBody>
                    <a:bodyPr/>
                    <a:lstStyle/>
                    <a:p>
                      <a:r>
                        <a:rPr sz="2000" dirty="0"/>
                        <a:t>Cloud-centric</a:t>
                      </a:r>
                      <a:r>
                        <a:rPr lang="en-US" sz="2000" dirty="0"/>
                        <a:t>[1]</a:t>
                      </a:r>
                      <a:endParaRPr sz="2000" dirty="0"/>
                    </a:p>
                  </a:txBody>
                  <a:tcPr/>
                </a:tc>
                <a:tc>
                  <a:txBody>
                    <a:bodyPr/>
                    <a:lstStyle/>
                    <a:p>
                      <a:r>
                        <a:rPr sz="2000"/>
                        <a:t>High-latency</a:t>
                      </a:r>
                    </a:p>
                  </a:txBody>
                  <a:tcPr/>
                </a:tc>
                <a:tc>
                  <a:txBody>
                    <a:bodyPr/>
                    <a:lstStyle/>
                    <a:p>
                      <a:r>
                        <a:rPr sz="2000"/>
                        <a:t>No</a:t>
                      </a:r>
                    </a:p>
                  </a:txBody>
                  <a:tcPr/>
                </a:tc>
                <a:tc>
                  <a:txBody>
                    <a:bodyPr/>
                    <a:lstStyle/>
                    <a:p>
                      <a:r>
                        <a:rPr sz="2000"/>
                        <a:t>Yes</a:t>
                      </a:r>
                    </a:p>
                  </a:txBody>
                  <a:tcPr/>
                </a:tc>
                <a:tc>
                  <a:txBody>
                    <a:bodyPr/>
                    <a:lstStyle/>
                    <a:p>
                      <a:r>
                        <a:rPr sz="2000"/>
                        <a:t>Delayed</a:t>
                      </a:r>
                    </a:p>
                  </a:txBody>
                  <a:tcPr/>
                </a:tc>
                <a:tc>
                  <a:txBody>
                    <a:bodyPr/>
                    <a:lstStyle/>
                    <a:p>
                      <a:r>
                        <a:rPr sz="2000"/>
                        <a:t>High</a:t>
                      </a:r>
                    </a:p>
                  </a:txBody>
                  <a:tcPr/>
                </a:tc>
                <a:extLst>
                  <a:ext uri="{0D108BD9-81ED-4DB2-BD59-A6C34878D82A}">
                    <a16:rowId xmlns:a16="http://schemas.microsoft.com/office/drawing/2014/main" val="10002"/>
                  </a:ext>
                </a:extLst>
              </a:tr>
              <a:tr h="587828">
                <a:tc>
                  <a:txBody>
                    <a:bodyPr/>
                    <a:lstStyle/>
                    <a:p>
                      <a:r>
                        <a:rPr sz="2000" dirty="0"/>
                        <a:t>Vehicle-only ADAS</a:t>
                      </a:r>
                      <a:r>
                        <a:rPr lang="en-US" sz="2000" dirty="0"/>
                        <a:t> [2]</a:t>
                      </a:r>
                      <a:endParaRPr sz="2000" dirty="0"/>
                    </a:p>
                  </a:txBody>
                  <a:tcPr/>
                </a:tc>
                <a:tc>
                  <a:txBody>
                    <a:bodyPr/>
                    <a:lstStyle/>
                    <a:p>
                      <a:r>
                        <a:rPr sz="2000"/>
                        <a:t>Fast</a:t>
                      </a:r>
                    </a:p>
                  </a:txBody>
                  <a:tcPr/>
                </a:tc>
                <a:tc>
                  <a:txBody>
                    <a:bodyPr/>
                    <a:lstStyle/>
                    <a:p>
                      <a:r>
                        <a:rPr sz="2000"/>
                        <a:t>Yes</a:t>
                      </a:r>
                    </a:p>
                  </a:txBody>
                  <a:tcPr/>
                </a:tc>
                <a:tc>
                  <a:txBody>
                    <a:bodyPr/>
                    <a:lstStyle/>
                    <a:p>
                      <a:r>
                        <a:rPr sz="2000"/>
                        <a:t>No</a:t>
                      </a:r>
                    </a:p>
                  </a:txBody>
                  <a:tcPr/>
                </a:tc>
                <a:tc>
                  <a:txBody>
                    <a:bodyPr/>
                    <a:lstStyle/>
                    <a:p>
                      <a:r>
                        <a:rPr sz="2000"/>
                        <a:t>Local only</a:t>
                      </a:r>
                    </a:p>
                  </a:txBody>
                  <a:tcPr/>
                </a:tc>
                <a:tc>
                  <a:txBody>
                    <a:bodyPr/>
                    <a:lstStyle/>
                    <a:p>
                      <a:r>
                        <a:rPr sz="2000"/>
                        <a:t>High</a:t>
                      </a:r>
                    </a:p>
                  </a:txBody>
                  <a:tcPr/>
                </a:tc>
                <a:extLst>
                  <a:ext uri="{0D108BD9-81ED-4DB2-BD59-A6C34878D82A}">
                    <a16:rowId xmlns:a16="http://schemas.microsoft.com/office/drawing/2014/main" val="10003"/>
                  </a:ext>
                </a:extLst>
              </a:tr>
              <a:tr h="587828">
                <a:tc>
                  <a:txBody>
                    <a:bodyPr/>
                    <a:lstStyle/>
                    <a:p>
                      <a:r>
                        <a:rPr sz="2000" dirty="0"/>
                        <a:t>Conventional CCTV</a:t>
                      </a:r>
                      <a:r>
                        <a:rPr lang="en-US" sz="2000" dirty="0"/>
                        <a:t>[3]</a:t>
                      </a:r>
                      <a:endParaRPr sz="2000" dirty="0"/>
                    </a:p>
                  </a:txBody>
                  <a:tcPr/>
                </a:tc>
                <a:tc>
                  <a:txBody>
                    <a:bodyPr/>
                    <a:lstStyle/>
                    <a:p>
                      <a:r>
                        <a:rPr sz="2000"/>
                        <a:t>Manual</a:t>
                      </a:r>
                    </a:p>
                  </a:txBody>
                  <a:tcPr/>
                </a:tc>
                <a:tc>
                  <a:txBody>
                    <a:bodyPr/>
                    <a:lstStyle/>
                    <a:p>
                      <a:r>
                        <a:rPr sz="2000"/>
                        <a:t>No</a:t>
                      </a:r>
                    </a:p>
                  </a:txBody>
                  <a:tcPr/>
                </a:tc>
                <a:tc>
                  <a:txBody>
                    <a:bodyPr/>
                    <a:lstStyle/>
                    <a:p>
                      <a:r>
                        <a:rPr sz="2000"/>
                        <a:t>No</a:t>
                      </a:r>
                    </a:p>
                  </a:txBody>
                  <a:tcPr/>
                </a:tc>
                <a:tc>
                  <a:txBody>
                    <a:bodyPr/>
                    <a:lstStyle/>
                    <a:p>
                      <a:r>
                        <a:rPr sz="2000"/>
                        <a:t>No</a:t>
                      </a:r>
                    </a:p>
                  </a:txBody>
                  <a:tcPr/>
                </a:tc>
                <a:tc>
                  <a:txBody>
                    <a:bodyPr/>
                    <a:lstStyle/>
                    <a:p>
                      <a:r>
                        <a:rPr sz="2000"/>
                        <a:t>Medium</a:t>
                      </a:r>
                    </a:p>
                  </a:txBody>
                  <a:tcPr/>
                </a:tc>
                <a:extLst>
                  <a:ext uri="{0D108BD9-81ED-4DB2-BD59-A6C34878D82A}">
                    <a16:rowId xmlns:a16="http://schemas.microsoft.com/office/drawing/2014/main" val="10004"/>
                  </a:ext>
                </a:extLst>
              </a:tr>
              <a:tr h="587828">
                <a:tc>
                  <a:txBody>
                    <a:bodyPr/>
                    <a:lstStyle/>
                    <a:p>
                      <a:r>
                        <a:rPr sz="2000" dirty="0"/>
                        <a:t>High-end ITS</a:t>
                      </a:r>
                      <a:r>
                        <a:rPr lang="en-US" sz="2000" dirty="0"/>
                        <a:t> [4]</a:t>
                      </a:r>
                      <a:endParaRPr sz="2000" dirty="0"/>
                    </a:p>
                  </a:txBody>
                  <a:tcPr/>
                </a:tc>
                <a:tc>
                  <a:txBody>
                    <a:bodyPr/>
                    <a:lstStyle/>
                    <a:p>
                      <a:r>
                        <a:rPr sz="2000"/>
                        <a:t>Fast</a:t>
                      </a:r>
                    </a:p>
                  </a:txBody>
                  <a:tcPr/>
                </a:tc>
                <a:tc>
                  <a:txBody>
                    <a:bodyPr/>
                    <a:lstStyle/>
                    <a:p>
                      <a:r>
                        <a:rPr sz="2000"/>
                        <a:t>Yes</a:t>
                      </a:r>
                    </a:p>
                  </a:txBody>
                  <a:tcPr/>
                </a:tc>
                <a:tc>
                  <a:txBody>
                    <a:bodyPr/>
                    <a:lstStyle/>
                    <a:p>
                      <a:r>
                        <a:rPr sz="2000"/>
                        <a:t>Yes</a:t>
                      </a:r>
                    </a:p>
                  </a:txBody>
                  <a:tcPr/>
                </a:tc>
                <a:tc>
                  <a:txBody>
                    <a:bodyPr/>
                    <a:lstStyle/>
                    <a:p>
                      <a:r>
                        <a:rPr sz="2000"/>
                        <a:t>Real-time</a:t>
                      </a:r>
                    </a:p>
                  </a:txBody>
                  <a:tcPr/>
                </a:tc>
                <a:tc>
                  <a:txBody>
                    <a:bodyPr/>
                    <a:lstStyle/>
                    <a:p>
                      <a:r>
                        <a:rPr sz="2000"/>
                        <a:t>Very High</a:t>
                      </a:r>
                    </a:p>
                  </a:txBody>
                  <a:tcPr/>
                </a:tc>
                <a:extLst>
                  <a:ext uri="{0D108BD9-81ED-4DB2-BD59-A6C34878D82A}">
                    <a16:rowId xmlns:a16="http://schemas.microsoft.com/office/drawing/2014/main" val="10005"/>
                  </a:ext>
                </a:extLst>
              </a:tr>
              <a:tr h="587832">
                <a:tc>
                  <a:txBody>
                    <a:bodyPr/>
                    <a:lstStyle/>
                    <a:p>
                      <a:r>
                        <a:rPr sz="2000" dirty="0"/>
                        <a:t>Proposed approach</a:t>
                      </a:r>
                      <a:r>
                        <a:rPr lang="en-US" sz="2000" dirty="0"/>
                        <a:t> </a:t>
                      </a:r>
                      <a:endParaRPr sz="2000" dirty="0"/>
                    </a:p>
                  </a:txBody>
                  <a:tcPr>
                    <a:solidFill>
                      <a:srgbClr val="E2EFDA"/>
                    </a:solidFill>
                  </a:tcPr>
                </a:tc>
                <a:tc>
                  <a:txBody>
                    <a:bodyPr/>
                    <a:lstStyle/>
                    <a:p>
                      <a:r>
                        <a:rPr sz="2000"/>
                        <a:t>To be measured</a:t>
                      </a:r>
                    </a:p>
                  </a:txBody>
                  <a:tcPr>
                    <a:solidFill>
                      <a:srgbClr val="E2EFDA"/>
                    </a:solidFill>
                  </a:tcPr>
                </a:tc>
                <a:tc>
                  <a:txBody>
                    <a:bodyPr/>
                    <a:lstStyle/>
                    <a:p>
                      <a:r>
                        <a:rPr sz="2000"/>
                        <a:t>Yes</a:t>
                      </a:r>
                    </a:p>
                  </a:txBody>
                  <a:tcPr>
                    <a:solidFill>
                      <a:srgbClr val="E2EFDA"/>
                    </a:solidFill>
                  </a:tcPr>
                </a:tc>
                <a:tc>
                  <a:txBody>
                    <a:bodyPr/>
                    <a:lstStyle/>
                    <a:p>
                      <a:r>
                        <a:rPr sz="2000"/>
                        <a:t>Proposed</a:t>
                      </a:r>
                    </a:p>
                  </a:txBody>
                  <a:tcPr>
                    <a:solidFill>
                      <a:srgbClr val="E2EFDA"/>
                    </a:solidFill>
                  </a:tcPr>
                </a:tc>
                <a:tc>
                  <a:txBody>
                    <a:bodyPr/>
                    <a:lstStyle/>
                    <a:p>
                      <a:r>
                        <a:rPr sz="2000"/>
                        <a:t>Target</a:t>
                      </a:r>
                    </a:p>
                  </a:txBody>
                  <a:tcPr>
                    <a:solidFill>
                      <a:srgbClr val="E2EFDA"/>
                    </a:solidFill>
                  </a:tcPr>
                </a:tc>
                <a:tc>
                  <a:txBody>
                    <a:bodyPr/>
                    <a:lstStyle/>
                    <a:p>
                      <a:r>
                        <a:rPr sz="2000" dirty="0"/>
                        <a:t>Cost-oriented</a:t>
                      </a:r>
                    </a:p>
                  </a:txBody>
                  <a:tcPr>
                    <a:solidFill>
                      <a:srgbClr val="E2EFDA"/>
                    </a:solidFill>
                  </a:tcPr>
                </a:tc>
                <a:extLst>
                  <a:ext uri="{0D108BD9-81ED-4DB2-BD59-A6C34878D82A}">
                    <a16:rowId xmlns:a16="http://schemas.microsoft.com/office/drawing/2014/main" val="10006"/>
                  </a:ext>
                </a:extLst>
              </a:tr>
            </a:tbl>
          </a:graphicData>
        </a:graphic>
      </p:graphicFrame>
      <p:sp>
        <p:nvSpPr>
          <p:cNvPr id="3" name="Date Placeholder 2">
            <a:extLst>
              <a:ext uri="{FF2B5EF4-FFF2-40B4-BE49-F238E27FC236}">
                <a16:creationId xmlns:a16="http://schemas.microsoft.com/office/drawing/2014/main" id="{3983CAB1-6439-DB53-B9C4-D84A1CBAE1E5}"/>
              </a:ext>
            </a:extLst>
          </p:cNvPr>
          <p:cNvSpPr>
            <a:spLocks noGrp="1"/>
          </p:cNvSpPr>
          <p:nvPr>
            <p:ph type="dt" idx="10"/>
          </p:nvPr>
        </p:nvSpPr>
        <p:spPr/>
        <p:txBody>
          <a:bodyPr/>
          <a:lstStyle/>
          <a:p>
            <a:fld id="{0203BFE7-7359-41FD-A257-56915305AF3D}" type="datetime1">
              <a:rPr lang="en-US" smtClean="0"/>
              <a:t>8/20/2026</a:t>
            </a:fld>
            <a:endParaRPr lang="en-IN" dirty="0"/>
          </a:p>
        </p:txBody>
      </p:sp>
    </p:spTree>
    <p:extLst>
      <p:ext uri="{BB962C8B-B14F-4D97-AF65-F5344CB8AC3E}">
        <p14:creationId xmlns:p14="http://schemas.microsoft.com/office/powerpoint/2010/main" val="1006215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Research Gap</a:t>
            </a:r>
          </a:p>
        </p:txBody>
      </p:sp>
      <p:sp>
        <p:nvSpPr>
          <p:cNvPr id="4" name="Footer Placeholder 3"/>
          <p:cNvSpPr>
            <a:spLocks noGrp="1"/>
          </p:cNvSpPr>
          <p:nvPr>
            <p:ph type="ftr" idx="11"/>
          </p:nvPr>
        </p:nvSpPr>
        <p:spPr/>
        <p:txBody>
          <a:bodyPr/>
          <a:lstStyle/>
          <a:p>
            <a:r>
              <a:rPr lang="en-US"/>
              <a:t>PMEC- BERHAMPUR Group-7</a:t>
            </a:r>
            <a:endParaRPr lang="en-US" dirty="0"/>
          </a:p>
        </p:txBody>
      </p:sp>
      <p:sp>
        <p:nvSpPr>
          <p:cNvPr id="6" name="Text Placeholder 2">
            <a:extLst>
              <a:ext uri="{FF2B5EF4-FFF2-40B4-BE49-F238E27FC236}">
                <a16:creationId xmlns:a16="http://schemas.microsoft.com/office/drawing/2014/main" id="{A3BDDC7D-518E-E4DE-AC96-374C217FC4FA}"/>
              </a:ext>
            </a:extLst>
          </p:cNvPr>
          <p:cNvSpPr>
            <a:spLocks noGrp="1"/>
          </p:cNvSpPr>
          <p:nvPr>
            <p:ph type="body" idx="1"/>
          </p:nvPr>
        </p:nvSpPr>
        <p:spPr>
          <a:xfrm>
            <a:off x="0" y="752354"/>
            <a:ext cx="12192000" cy="5603995"/>
          </a:xfrm>
        </p:spPr>
        <p:txBody>
          <a:bodyPr/>
          <a:lstStyle/>
          <a:p>
            <a:pPr>
              <a:spcAft>
                <a:spcPts val="400"/>
              </a:spcAft>
            </a:pPr>
            <a:r>
              <a:rPr sz="2400" dirty="0"/>
              <a:t>Manual inspection → delayed warning</a:t>
            </a:r>
          </a:p>
          <a:p>
            <a:pPr>
              <a:spcAft>
                <a:spcPts val="400"/>
              </a:spcAft>
            </a:pPr>
            <a:r>
              <a:rPr sz="2400" dirty="0"/>
              <a:t>Cloud-centric systems → bandwidth, latency, privacy concerns</a:t>
            </a:r>
          </a:p>
          <a:p>
            <a:pPr>
              <a:spcAft>
                <a:spcPts val="400"/>
              </a:spcAft>
            </a:pPr>
            <a:r>
              <a:rPr sz="2400" dirty="0"/>
              <a:t>Vehicle-only ADAS → limited sensing horizon</a:t>
            </a:r>
          </a:p>
          <a:p>
            <a:pPr>
              <a:spcAft>
                <a:spcPts val="400"/>
              </a:spcAft>
            </a:pPr>
            <a:r>
              <a:rPr sz="2400" dirty="0"/>
              <a:t>Conventional CCTV → passive; no cooperative warning</a:t>
            </a:r>
          </a:p>
          <a:p>
            <a:pPr>
              <a:spcAft>
                <a:spcPts val="400"/>
              </a:spcAft>
            </a:pPr>
            <a:r>
              <a:rPr sz="2400" dirty="0"/>
              <a:t>High-end ITS → effective but costly for dense deployment</a:t>
            </a:r>
          </a:p>
          <a:p>
            <a:pPr marL="114300" indent="0">
              <a:spcAft>
                <a:spcPts val="400"/>
              </a:spcAft>
              <a:buNone/>
            </a:pPr>
            <a:endParaRPr sz="2400" dirty="0"/>
          </a:p>
          <a:p>
            <a:pPr marL="114300" indent="0">
              <a:spcAft>
                <a:spcPts val="400"/>
              </a:spcAft>
              <a:buNone/>
            </a:pPr>
            <a:r>
              <a:rPr sz="2400" b="1" dirty="0"/>
              <a:t>RESEARCH GAP</a:t>
            </a:r>
          </a:p>
          <a:p>
            <a:pPr>
              <a:spcAft>
                <a:spcPts val="400"/>
              </a:spcAft>
            </a:pPr>
            <a:r>
              <a:rPr sz="2400" dirty="0"/>
              <a:t>Low-cost Edge AI + cooperative validation + V2X warning</a:t>
            </a:r>
          </a:p>
        </p:txBody>
      </p:sp>
      <p:sp>
        <p:nvSpPr>
          <p:cNvPr id="3" name="Date Placeholder 2">
            <a:extLst>
              <a:ext uri="{FF2B5EF4-FFF2-40B4-BE49-F238E27FC236}">
                <a16:creationId xmlns:a16="http://schemas.microsoft.com/office/drawing/2014/main" id="{CDA2AFF3-B304-D56E-61F7-72444DA5EC5B}"/>
              </a:ext>
            </a:extLst>
          </p:cNvPr>
          <p:cNvSpPr>
            <a:spLocks noGrp="1"/>
          </p:cNvSpPr>
          <p:nvPr>
            <p:ph type="dt" idx="10"/>
          </p:nvPr>
        </p:nvSpPr>
        <p:spPr/>
        <p:txBody>
          <a:bodyPr/>
          <a:lstStyle/>
          <a:p>
            <a:fld id="{5FA6EBDB-9A2A-4849-BFF7-FB92E506C5A5}" type="datetime1">
              <a:rPr lang="en-US" smtClean="0"/>
              <a:t>8/20/2026</a:t>
            </a:fld>
            <a:endParaRPr lang="en-IN" dirty="0"/>
          </a:p>
        </p:txBody>
      </p:sp>
    </p:spTree>
    <p:extLst>
      <p:ext uri="{BB962C8B-B14F-4D97-AF65-F5344CB8AC3E}">
        <p14:creationId xmlns:p14="http://schemas.microsoft.com/office/powerpoint/2010/main" val="1634741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Objectives of the project</a:t>
            </a:r>
          </a:p>
        </p:txBody>
      </p:sp>
      <p:sp>
        <p:nvSpPr>
          <p:cNvPr id="4" name="Footer Placeholder 3"/>
          <p:cNvSpPr>
            <a:spLocks noGrp="1"/>
          </p:cNvSpPr>
          <p:nvPr>
            <p:ph type="ftr" idx="11"/>
          </p:nvPr>
        </p:nvSpPr>
        <p:spPr/>
        <p:txBody>
          <a:bodyPr/>
          <a:lstStyle/>
          <a:p>
            <a:r>
              <a:rPr lang="en-US"/>
              <a:t>PMEC- BERHAMPUR Group-7</a:t>
            </a:r>
            <a:endParaRPr lang="en-US" dirty="0"/>
          </a:p>
        </p:txBody>
      </p:sp>
      <p:sp>
        <p:nvSpPr>
          <p:cNvPr id="6" name="Text Placeholder 2">
            <a:extLst>
              <a:ext uri="{FF2B5EF4-FFF2-40B4-BE49-F238E27FC236}">
                <a16:creationId xmlns:a16="http://schemas.microsoft.com/office/drawing/2014/main" id="{0D9E0771-3055-95FC-06DA-9766F6AEA964}"/>
              </a:ext>
            </a:extLst>
          </p:cNvPr>
          <p:cNvSpPr>
            <a:spLocks noGrp="1"/>
          </p:cNvSpPr>
          <p:nvPr>
            <p:ph type="body" idx="1"/>
          </p:nvPr>
        </p:nvSpPr>
        <p:spPr>
          <a:xfrm>
            <a:off x="0" y="752354"/>
            <a:ext cx="8280400" cy="5603995"/>
          </a:xfrm>
        </p:spPr>
        <p:txBody>
          <a:bodyPr/>
          <a:lstStyle/>
          <a:p>
            <a:pPr marL="114300" indent="0">
              <a:spcAft>
                <a:spcPts val="400"/>
              </a:spcAft>
              <a:buNone/>
            </a:pPr>
            <a:r>
              <a:rPr sz="2000" dirty="0"/>
              <a:t>1. Develop a low-cost Edge-AI sensing architecture.</a:t>
            </a:r>
          </a:p>
          <a:p>
            <a:pPr marL="114300" indent="0">
              <a:spcAft>
                <a:spcPts val="400"/>
              </a:spcAft>
              <a:buNone/>
            </a:pPr>
            <a:r>
              <a:rPr sz="2000" dirty="0"/>
              <a:t>2. Detect and classify selected road hazards locally.</a:t>
            </a:r>
          </a:p>
          <a:p>
            <a:pPr marL="114300" indent="0">
              <a:spcAft>
                <a:spcPts val="400"/>
              </a:spcAft>
              <a:buNone/>
            </a:pPr>
            <a:r>
              <a:rPr sz="2000" dirty="0"/>
              <a:t>3. Validate hazards using temporal, spatial and cooperative evidence.</a:t>
            </a:r>
          </a:p>
          <a:p>
            <a:pPr marL="114300" indent="0">
              <a:spcAft>
                <a:spcPts val="400"/>
              </a:spcAft>
              <a:buNone/>
            </a:pPr>
            <a:r>
              <a:rPr sz="2000" dirty="0"/>
              <a:t>4. Disseminate compact hazard events to approaching vehicles.</a:t>
            </a:r>
          </a:p>
          <a:p>
            <a:pPr marL="114300" indent="0">
              <a:spcAft>
                <a:spcPts val="400"/>
              </a:spcAft>
              <a:buNone/>
            </a:pPr>
            <a:r>
              <a:rPr sz="2000" dirty="0"/>
              <a:t>5. Demonstrate and benchmark the two-vehicle pothole-warning chain.</a:t>
            </a:r>
          </a:p>
          <a:p>
            <a:pPr>
              <a:spcAft>
                <a:spcPts val="400"/>
              </a:spcAft>
            </a:pPr>
            <a:endParaRPr sz="1800" dirty="0"/>
          </a:p>
          <a:p>
            <a:pPr marL="114300" indent="0">
              <a:spcAft>
                <a:spcPts val="400"/>
              </a:spcAft>
              <a:buNone/>
            </a:pPr>
            <a:r>
              <a:rPr sz="1800" b="1" dirty="0"/>
              <a:t>EVALUATION METRICS — TO BE MEASURED</a:t>
            </a:r>
            <a:endParaRPr lang="en-US" sz="1800" b="1" dirty="0"/>
          </a:p>
          <a:p>
            <a:pPr>
              <a:spcAft>
                <a:spcPts val="400"/>
              </a:spcAft>
            </a:pPr>
            <a:r>
              <a:rPr sz="2000" dirty="0"/>
              <a:t>Precision </a:t>
            </a:r>
            <a:endParaRPr lang="en-US" sz="2000" dirty="0"/>
          </a:p>
          <a:p>
            <a:pPr>
              <a:spcAft>
                <a:spcPts val="400"/>
              </a:spcAft>
            </a:pPr>
            <a:r>
              <a:rPr sz="2000" dirty="0"/>
              <a:t>Recall </a:t>
            </a:r>
            <a:endParaRPr lang="en-US" sz="2000" dirty="0"/>
          </a:p>
          <a:p>
            <a:pPr>
              <a:spcAft>
                <a:spcPts val="400"/>
              </a:spcAft>
            </a:pPr>
            <a:r>
              <a:rPr sz="2000" dirty="0"/>
              <a:t>F1 </a:t>
            </a:r>
            <a:endParaRPr lang="en-US" sz="2000" dirty="0"/>
          </a:p>
        </p:txBody>
      </p:sp>
      <p:sp>
        <p:nvSpPr>
          <p:cNvPr id="7" name="TextBox 6">
            <a:extLst>
              <a:ext uri="{FF2B5EF4-FFF2-40B4-BE49-F238E27FC236}">
                <a16:creationId xmlns:a16="http://schemas.microsoft.com/office/drawing/2014/main" id="{4A7D7509-8811-E3EA-7AE9-CFA3BD16F9E3}"/>
              </a:ext>
            </a:extLst>
          </p:cNvPr>
          <p:cNvSpPr txBox="1"/>
          <p:nvPr/>
        </p:nvSpPr>
        <p:spPr>
          <a:xfrm>
            <a:off x="2387600" y="3997504"/>
            <a:ext cx="6223000" cy="2195473"/>
          </a:xfrm>
          <a:prstGeom prst="rect">
            <a:avLst/>
          </a:prstGeom>
          <a:noFill/>
        </p:spPr>
        <p:txBody>
          <a:bodyPr wrap="square">
            <a:spAutoFit/>
          </a:bodyPr>
          <a:lstStyle/>
          <a:p>
            <a:pPr marL="342900" indent="-342900">
              <a:spcAft>
                <a:spcPts val="400"/>
              </a:spcAft>
              <a:buFont typeface="Arial" panose="020B0604020202020204" pitchFamily="34" charset="0"/>
              <a:buChar char="•"/>
            </a:pPr>
            <a:r>
              <a:rPr lang="en-IN" sz="2000" dirty="0"/>
              <a:t>False Positives/Hour </a:t>
            </a:r>
          </a:p>
          <a:p>
            <a:pPr marL="342900" indent="-342900">
              <a:spcAft>
                <a:spcPts val="400"/>
              </a:spcAft>
              <a:buFont typeface="Arial" panose="020B0604020202020204" pitchFamily="34" charset="0"/>
              <a:buChar char="•"/>
            </a:pPr>
            <a:r>
              <a:rPr lang="en-IN" sz="2000" dirty="0"/>
              <a:t>Inference Latency</a:t>
            </a:r>
          </a:p>
          <a:p>
            <a:pPr marL="342900" indent="-342900">
              <a:spcAft>
                <a:spcPts val="400"/>
              </a:spcAft>
              <a:buFont typeface="Arial" panose="020B0604020202020204" pitchFamily="34" charset="0"/>
              <a:buChar char="•"/>
            </a:pPr>
            <a:r>
              <a:rPr lang="en-IN" sz="2000" dirty="0"/>
              <a:t>End-to-End Warning Latency </a:t>
            </a:r>
          </a:p>
          <a:p>
            <a:pPr marL="342900" indent="-342900">
              <a:spcAft>
                <a:spcPts val="400"/>
              </a:spcAft>
              <a:buFont typeface="Arial" panose="020B0604020202020204" pitchFamily="34" charset="0"/>
              <a:buChar char="•"/>
            </a:pPr>
            <a:r>
              <a:rPr lang="en-IN" sz="2000" dirty="0"/>
              <a:t>Position Error </a:t>
            </a:r>
          </a:p>
          <a:p>
            <a:pPr marL="342900" indent="-342900">
              <a:spcAft>
                <a:spcPts val="400"/>
              </a:spcAft>
              <a:buFont typeface="Arial" panose="020B0604020202020204" pitchFamily="34" charset="0"/>
              <a:buChar char="•"/>
            </a:pPr>
            <a:r>
              <a:rPr lang="en-IN" sz="2000" dirty="0"/>
              <a:t>Packet Delivery </a:t>
            </a:r>
          </a:p>
          <a:p>
            <a:pPr marL="342900" indent="-342900">
              <a:spcAft>
                <a:spcPts val="400"/>
              </a:spcAft>
              <a:buFont typeface="Arial" panose="020B0604020202020204" pitchFamily="34" charset="0"/>
              <a:buChar char="•"/>
            </a:pPr>
            <a:r>
              <a:rPr lang="en-IN" sz="2000" dirty="0"/>
              <a:t> Power</a:t>
            </a:r>
          </a:p>
        </p:txBody>
      </p:sp>
      <p:sp>
        <p:nvSpPr>
          <p:cNvPr id="8" name="Date Placeholder 7">
            <a:extLst>
              <a:ext uri="{FF2B5EF4-FFF2-40B4-BE49-F238E27FC236}">
                <a16:creationId xmlns:a16="http://schemas.microsoft.com/office/drawing/2014/main" id="{B528CF8B-8DDC-B844-54EA-E9EFE7E00146}"/>
              </a:ext>
            </a:extLst>
          </p:cNvPr>
          <p:cNvSpPr>
            <a:spLocks noGrp="1"/>
          </p:cNvSpPr>
          <p:nvPr>
            <p:ph type="dt" idx="10"/>
          </p:nvPr>
        </p:nvSpPr>
        <p:spPr/>
        <p:txBody>
          <a:bodyPr/>
          <a:lstStyle/>
          <a:p>
            <a:fld id="{BDC96024-E8BF-404C-8023-FB8F93774D24}" type="datetime1">
              <a:rPr lang="en-US" smtClean="0"/>
              <a:t>8/20/2026</a:t>
            </a:fld>
            <a:endParaRPr lang="en-IN" dirty="0"/>
          </a:p>
        </p:txBody>
      </p:sp>
    </p:spTree>
    <p:extLst>
      <p:ext uri="{BB962C8B-B14F-4D97-AF65-F5344CB8AC3E}">
        <p14:creationId xmlns:p14="http://schemas.microsoft.com/office/powerpoint/2010/main" val="4169869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Reference</a:t>
            </a:r>
          </a:p>
        </p:txBody>
      </p:sp>
      <p:sp>
        <p:nvSpPr>
          <p:cNvPr id="4" name="Footer Placeholder 3"/>
          <p:cNvSpPr>
            <a:spLocks noGrp="1"/>
          </p:cNvSpPr>
          <p:nvPr>
            <p:ph type="ftr" idx="11"/>
          </p:nvPr>
        </p:nvSpPr>
        <p:spPr/>
        <p:txBody>
          <a:bodyPr/>
          <a:lstStyle/>
          <a:p>
            <a:r>
              <a:rPr lang="en-US"/>
              <a:t>PMEC- BERHAMPUR Group-7</a:t>
            </a:r>
            <a:endParaRPr lang="en-US" dirty="0"/>
          </a:p>
        </p:txBody>
      </p:sp>
      <p:sp>
        <p:nvSpPr>
          <p:cNvPr id="6" name="Text Placeholder 2">
            <a:extLst>
              <a:ext uri="{FF2B5EF4-FFF2-40B4-BE49-F238E27FC236}">
                <a16:creationId xmlns:a16="http://schemas.microsoft.com/office/drawing/2014/main" id="{714D94CC-F514-597B-90EF-E5276C2F7D50}"/>
              </a:ext>
            </a:extLst>
          </p:cNvPr>
          <p:cNvSpPr>
            <a:spLocks noGrp="1"/>
          </p:cNvSpPr>
          <p:nvPr>
            <p:ph type="body" idx="1"/>
          </p:nvPr>
        </p:nvSpPr>
        <p:spPr>
          <a:xfrm>
            <a:off x="0" y="500106"/>
            <a:ext cx="12192000" cy="5856244"/>
          </a:xfrm>
        </p:spPr>
        <p:txBody>
          <a:bodyPr/>
          <a:lstStyle/>
          <a:p>
            <a:pPr marL="114300" indent="0">
              <a:lnSpc>
                <a:spcPct val="100000"/>
              </a:lnSpc>
              <a:buNone/>
            </a:pPr>
            <a:r>
              <a:rPr lang="en-US" sz="2000" b="1" dirty="0"/>
              <a:t>[1]</a:t>
            </a:r>
            <a:r>
              <a:rPr lang="en-US" sz="2000" dirty="0"/>
              <a:t> S. Bitam, A. Mellouk, and S. </a:t>
            </a:r>
            <a:r>
              <a:rPr lang="en-US" sz="2000" dirty="0" err="1"/>
              <a:t>Zeadally</a:t>
            </a:r>
            <a:r>
              <a:rPr lang="en-US" sz="2000" dirty="0"/>
              <a:t>, “VANET-cloud: A generic cloud computing model for vehicular Ad Hoc networks,” </a:t>
            </a:r>
            <a:r>
              <a:rPr lang="en-US" sz="2000" i="1" dirty="0"/>
              <a:t>IEEE Wireless Communications</a:t>
            </a:r>
            <a:r>
              <a:rPr lang="en-US" sz="2000" dirty="0"/>
              <a:t>, vol. 22, no. 1, pp. 96–102, Feb. 2015, </a:t>
            </a:r>
            <a:r>
              <a:rPr lang="en-US" sz="2000" dirty="0" err="1"/>
              <a:t>doi</a:t>
            </a:r>
            <a:r>
              <a:rPr lang="en-US" sz="2000" dirty="0"/>
              <a:t>: 10.1109/MWC.2015.7054724.</a:t>
            </a:r>
          </a:p>
          <a:p>
            <a:pPr marL="114300" indent="0">
              <a:lnSpc>
                <a:spcPct val="100000"/>
              </a:lnSpc>
              <a:buNone/>
            </a:pPr>
            <a:r>
              <a:rPr lang="en-US" sz="2000" b="1" dirty="0"/>
              <a:t>[2]</a:t>
            </a:r>
            <a:r>
              <a:rPr lang="en-US" sz="2000" dirty="0"/>
              <a:t> R. Tarun and B. Priya Esther, “Traffic Anomaly Alert Model to Assist ADAS Feature based on Road Sign Detection in Edge Devices,” 2023 International Conference on Emerging Smart Computing and Informatics (ICESC), 2023, pp. 824–828, </a:t>
            </a:r>
            <a:r>
              <a:rPr lang="en-US" sz="2000" dirty="0" err="1"/>
              <a:t>doi</a:t>
            </a:r>
            <a:r>
              <a:rPr lang="en-US" sz="2000" dirty="0"/>
              <a:t>: 10.1109/ICESC57686.2023.10193442.</a:t>
            </a:r>
          </a:p>
          <a:p>
            <a:pPr marL="114300" indent="0">
              <a:lnSpc>
                <a:spcPct val="100000"/>
              </a:lnSpc>
              <a:buNone/>
            </a:pPr>
            <a:r>
              <a:rPr lang="en-US" sz="2000" dirty="0"/>
              <a:t> </a:t>
            </a:r>
            <a:r>
              <a:rPr lang="en-US" sz="2000" b="1" dirty="0"/>
              <a:t>[3]</a:t>
            </a:r>
            <a:r>
              <a:rPr lang="en-US" sz="2000" dirty="0"/>
              <a:t> D. Grabowski and A. Czyżewski, “System for monitoring road slippery based on CCTV cameras and convolutional neural networks,” </a:t>
            </a:r>
            <a:r>
              <a:rPr lang="en-US" sz="2000" i="1" dirty="0"/>
              <a:t>Journal of Intelligent Information Systems</a:t>
            </a:r>
            <a:r>
              <a:rPr lang="en-US" sz="2000" dirty="0"/>
              <a:t>, vol. 55, pp. 521–534, 2020, </a:t>
            </a:r>
            <a:r>
              <a:rPr lang="en-US" sz="2000" dirty="0" err="1"/>
              <a:t>doi</a:t>
            </a:r>
            <a:r>
              <a:rPr lang="en-US" sz="2000" dirty="0"/>
              <a:t>: 10.1007/s10844-020-00618-5.</a:t>
            </a:r>
            <a:endParaRPr lang="en-US" sz="1600" dirty="0"/>
          </a:p>
          <a:p>
            <a:pPr marL="114300" indent="0">
              <a:lnSpc>
                <a:spcPct val="100000"/>
              </a:lnSpc>
              <a:buNone/>
            </a:pPr>
            <a:r>
              <a:rPr lang="en-US" sz="2000" b="1" dirty="0"/>
              <a:t>[4]</a:t>
            </a:r>
            <a:r>
              <a:rPr lang="en-US" sz="2000" dirty="0"/>
              <a:t> J. Zhang, F.-Y. Wang, K. Wang, W.-H. Lin, X. Xu, and C. Chen, “Data-driven intelligent transportation systems: A survey,” </a:t>
            </a:r>
            <a:r>
              <a:rPr lang="en-US" sz="2000" i="1" dirty="0"/>
              <a:t>IEEE Transactions on Intelligent Transportation Systems</a:t>
            </a:r>
            <a:r>
              <a:rPr lang="en-US" sz="2000" dirty="0"/>
              <a:t>, vol. 12, no. 4, pp. 1624–1639, Dec. 2011, </a:t>
            </a:r>
            <a:r>
              <a:rPr lang="en-US" sz="2000" dirty="0" err="1"/>
              <a:t>doi</a:t>
            </a:r>
            <a:r>
              <a:rPr lang="en-US" sz="2000" dirty="0"/>
              <a:t>: 10.1109/TITS.2011.2158001. </a:t>
            </a:r>
            <a:br>
              <a:rPr lang="en-US" sz="2000" dirty="0"/>
            </a:br>
            <a:r>
              <a:rPr lang="en-US" sz="2000" b="1" dirty="0"/>
              <a:t>[5] </a:t>
            </a:r>
            <a:r>
              <a:rPr lang="en-IN" sz="2000" dirty="0"/>
              <a:t>Ministry of Road Transport and Highways, Government of India,   Road Accidents in India 2023, New Delhi, India, 2024.</a:t>
            </a:r>
            <a:endParaRPr lang="en-US" sz="2000" dirty="0"/>
          </a:p>
          <a:p>
            <a:pPr marL="114300" indent="0">
              <a:lnSpc>
                <a:spcPct val="100000"/>
              </a:lnSpc>
              <a:buNone/>
            </a:pPr>
            <a:endParaRPr lang="en-IN" sz="2000" dirty="0">
              <a:latin typeface="Times New Roman"/>
            </a:endParaRPr>
          </a:p>
        </p:txBody>
      </p:sp>
      <p:sp>
        <p:nvSpPr>
          <p:cNvPr id="3" name="Date Placeholder 2">
            <a:extLst>
              <a:ext uri="{FF2B5EF4-FFF2-40B4-BE49-F238E27FC236}">
                <a16:creationId xmlns:a16="http://schemas.microsoft.com/office/drawing/2014/main" id="{24B987FF-202C-D146-DFD5-5DCC9B3EB563}"/>
              </a:ext>
            </a:extLst>
          </p:cNvPr>
          <p:cNvSpPr>
            <a:spLocks noGrp="1"/>
          </p:cNvSpPr>
          <p:nvPr>
            <p:ph type="dt" idx="10"/>
          </p:nvPr>
        </p:nvSpPr>
        <p:spPr/>
        <p:txBody>
          <a:bodyPr/>
          <a:lstStyle/>
          <a:p>
            <a:fld id="{A0223AE6-7DB5-4F47-8150-78277A4430F0}" type="datetime1">
              <a:rPr lang="en-US" smtClean="0"/>
              <a:t>8/20/2026</a:t>
            </a:fld>
            <a:endParaRPr lang="en-IN" dirty="0"/>
          </a:p>
        </p:txBody>
      </p:sp>
    </p:spTree>
    <p:extLst>
      <p:ext uri="{BB962C8B-B14F-4D97-AF65-F5344CB8AC3E}">
        <p14:creationId xmlns:p14="http://schemas.microsoft.com/office/powerpoint/2010/main" val="1827901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CE5B3BF-D0A1-DA66-8001-2E1240ECEFFD}"/>
              </a:ext>
            </a:extLst>
          </p:cNvPr>
          <p:cNvSpPr>
            <a:spLocks noGrp="1"/>
          </p:cNvSpPr>
          <p:nvPr>
            <p:ph type="ftr" idx="11"/>
          </p:nvPr>
        </p:nvSpPr>
        <p:spPr/>
        <p:txBody>
          <a:bodyPr/>
          <a:lstStyle/>
          <a:p>
            <a:r>
              <a:rPr lang="en-US"/>
              <a:t>PMEC- BERHAMPUR Group-7</a:t>
            </a:r>
          </a:p>
        </p:txBody>
      </p:sp>
      <p:sp>
        <p:nvSpPr>
          <p:cNvPr id="6" name="Title 1">
            <a:extLst>
              <a:ext uri="{FF2B5EF4-FFF2-40B4-BE49-F238E27FC236}">
                <a16:creationId xmlns:a16="http://schemas.microsoft.com/office/drawing/2014/main" id="{F3FB6D2F-CAFB-2A37-C11E-A7FE3039354A}"/>
              </a:ext>
            </a:extLst>
          </p:cNvPr>
          <p:cNvSpPr txBox="1">
            <a:spLocks/>
          </p:cNvSpPr>
          <p:nvPr/>
        </p:nvSpPr>
        <p:spPr>
          <a:xfrm>
            <a:off x="1524000" y="2235200"/>
            <a:ext cx="9144000" cy="2387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Times New Roman"/>
              <a:buNone/>
              <a:defRPr sz="4400" b="0" i="0" u="none" strike="noStrike" cap="none">
                <a:solidFill>
                  <a:schemeClr val="dk1"/>
                </a:solidFill>
                <a:latin typeface="+mn-lt"/>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4000" b="1" dirty="0">
                <a:latin typeface="Arial"/>
              </a:rPr>
              <a:t>Thank You</a:t>
            </a:r>
          </a:p>
        </p:txBody>
      </p:sp>
      <p:sp>
        <p:nvSpPr>
          <p:cNvPr id="2" name="Date Placeholder 1">
            <a:extLst>
              <a:ext uri="{FF2B5EF4-FFF2-40B4-BE49-F238E27FC236}">
                <a16:creationId xmlns:a16="http://schemas.microsoft.com/office/drawing/2014/main" id="{539C894E-B7B5-350F-8070-2AA2CF2D176C}"/>
              </a:ext>
            </a:extLst>
          </p:cNvPr>
          <p:cNvSpPr>
            <a:spLocks noGrp="1"/>
          </p:cNvSpPr>
          <p:nvPr>
            <p:ph type="dt" idx="10"/>
          </p:nvPr>
        </p:nvSpPr>
        <p:spPr/>
        <p:txBody>
          <a:bodyPr/>
          <a:lstStyle/>
          <a:p>
            <a:fld id="{23ADE6A5-8840-4225-BE38-F0E969EC671F}" type="datetime1">
              <a:rPr lang="en-US" smtClean="0"/>
              <a:t>8/20/2026</a:t>
            </a:fld>
            <a:endParaRPr lang="en-IN" dirty="0"/>
          </a:p>
        </p:txBody>
      </p:sp>
    </p:spTree>
    <p:extLst>
      <p:ext uri="{BB962C8B-B14F-4D97-AF65-F5344CB8AC3E}">
        <p14:creationId xmlns:p14="http://schemas.microsoft.com/office/powerpoint/2010/main" val="154585995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1082</TotalTime>
  <Words>612</Words>
  <Application>Microsoft Office PowerPoint</Application>
  <PresentationFormat>Widescreen</PresentationFormat>
  <Paragraphs>122</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Content </vt:lpstr>
      <vt:lpstr>Introduction</vt:lpstr>
      <vt:lpstr>Road Features Associated with Accidents</vt:lpstr>
      <vt:lpstr>Graphical abstract of the proposed work </vt:lpstr>
      <vt:lpstr>Literature survey</vt:lpstr>
      <vt:lpstr>Research Gap</vt:lpstr>
      <vt:lpstr>Objectives of the project</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(Font- Arial 60)</dc:title>
  <dc:creator>Shaun Topno 52/2023</dc:creator>
  <cp:lastModifiedBy>Adarsh swarup maharana</cp:lastModifiedBy>
  <cp:revision>240</cp:revision>
  <dcterms:modified xsi:type="dcterms:W3CDTF">2026-08-20T07:51:57Z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2024-03-12T09:32:37Z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2db82e7c-c2d6-4177-8944-db2457ef20f3</vt:lpwstr>
  </property>
  <property fmtid="{D5CDD505-2E9C-101B-9397-08002B2CF9AE}" pid="7" name="MSIP_Label_defa4170-0d19-0005-0004-bc88714345d2_ActionId">
    <vt:lpwstr>a4b02b08-c1a9-484f-9dca-8234e1c1618b</vt:lpwstr>
  </property>
  <property fmtid="{D5CDD505-2E9C-101B-9397-08002B2CF9AE}" pid="8" name="MSIP_Label_defa4170-0d19-0005-0004-bc88714345d2_ContentBits">
    <vt:lpwstr>0</vt:lpwstr>
  </property>
</Properties>
</file>